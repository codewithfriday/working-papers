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framework</c:v>
                </c:pt>
              </c:strCache>
            </c:strRef>
          </c:tx>
          <c:spPr>
            <a:solidFill>
              <a:srgbClr val="B9AE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44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gpt-4.1</c:v>
                  </c:pt>
                  <c:pt idx="1">
                    <c:v>gpt-4o</c:v>
                  </c:pt>
                  <c:pt idx="2">
                    <c:v>gpt-3.5-turbo</c:v>
                  </c:pt>
                  <c:pt idx="3">
                    <c:v>gpt-4.1-mini</c:v>
                  </c:pt>
                  <c:pt idx="4">
                    <c:v>gpt-4o-mini</c:v>
                  </c:pt>
                  <c:pt idx="5">
                    <c:v>gpt-4.1-nano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16.26</c:v>
                </c:pt>
                <c:pt idx="1">
                  <c:v>3.61</c:v>
                </c:pt>
                <c:pt idx="2">
                  <c:v>3.01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framework</c:v>
                </c:pt>
              </c:strCache>
            </c:strRef>
          </c:tx>
          <c:spPr>
            <a:solidFill>
              <a:srgbClr val="5B3F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44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gpt-4.1</c:v>
                  </c:pt>
                  <c:pt idx="1">
                    <c:v>gpt-4o</c:v>
                  </c:pt>
                  <c:pt idx="2">
                    <c:v>gpt-3.5-turbo</c:v>
                  </c:pt>
                  <c:pt idx="3">
                    <c:v>gpt-4.1-mini</c:v>
                  </c:pt>
                  <c:pt idx="4">
                    <c:v>gpt-4o-mini</c:v>
                  </c:pt>
                  <c:pt idx="5">
                    <c:v>gpt-4.1-nano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53.61</c:v>
                </c:pt>
                <c:pt idx="1">
                  <c:v>46.38</c:v>
                </c:pt>
                <c:pt idx="2">
                  <c:v>24.09</c:v>
                </c:pt>
                <c:pt idx="3">
                  <c:v>21.08</c:v>
                </c:pt>
                <c:pt idx="4">
                  <c:v>12.65</c:v>
                </c:pt>
                <c:pt idx="5">
                  <c:v>10.24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444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0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Calibri"/>
                  </a:rPr>
                  <a:t>Exact-match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852160" cy="5852160"/>
          </a:xfrm>
          <a:prstGeom prst="ellipse">
            <a:avLst/>
          </a:prstGeom>
          <a:solidFill>
            <a:srgbClr val="5B3FA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005840"/>
            <a:ext cx="3474720" cy="3474720"/>
          </a:xfrm>
          <a:prstGeom prst="ellipse">
            <a:avLst/>
          </a:prstGeom>
          <a:solidFill>
            <a:srgbClr val="2ED8B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61st APAC DGCA CONFERENCE  ·  KUALA LUMPUR, MALAYSIA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Item 4 — Air Navigation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Artificial Intelligence to NOTAM Production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framework for automated, standards-compliant NOTAM descriptions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074920"/>
            <a:ext cx="2926080" cy="0"/>
          </a:xfrm>
          <a:prstGeom prst="line">
            <a:avLst/>
          </a:prstGeom>
          <a:noFill/>
          <a:ln w="31750">
            <a:solidFill>
              <a:srgbClr val="2ED8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Indonesia  ·  AirNav Indonesia with Telkom University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research published at the 2025 IEEE International Conference on Computing and Applied Informatics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NOTAMs are vital — and cryptic to produce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NOTAMs alert pilots and controllers to hazards and changes affecting flight safety. Item E — the description — must be encoded in rigid ICAO Doc 8400 abbreviations.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trained staff can reliably encode it; submissions often need expert review. Growing traffic means growing workload and human-error risk.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F3F0FB"/>
          </a:solidFill>
          <a:ln w="12700">
            <a:solidFill>
              <a:srgbClr val="E0D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2331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“Runway 06/24 is closed due to work in progress”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52560" y="3246120"/>
            <a:ext cx="640080" cy="411480"/>
          </a:xfrm>
          <a:prstGeom prst="chevron">
            <a:avLst/>
          </a:prstGeom>
          <a:solidFill>
            <a:srgbClr val="2ED8B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NOTAM ITEM 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4114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RWY 06/24 CLSD DUE TO WIP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Generation, anchored to ICAO Doc 8400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30168" cy="4114800"/>
          </a:xfrm>
          <a:prstGeom prst="roundRect">
            <a:avLst>
              <a:gd name="adj" fmla="val 2015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2128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retrieval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generating, the system retrieves authoritative abbreviation expansions from ICAO Doc 8400 and conditions the model on them — anchoring output to ground truth, not the model’s memory.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0288" y="1920240"/>
            <a:ext cx="3630168" cy="4114800"/>
          </a:xfrm>
          <a:prstGeom prst="roundRect">
            <a:avLst>
              <a:gd name="adj" fmla="val 2015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2194560"/>
            <a:ext cx="566928" cy="5669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50408" y="22128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matching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2896" y="297180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uses character-level indel distance + fuzzy multi-gram matching — robust to typos and concatenations (recovering “TWY” from “TWYH”), with an n-gram window for multi-word synonyms.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40496" y="1920240"/>
            <a:ext cx="3630168" cy="4114800"/>
          </a:xfrm>
          <a:prstGeom prst="roundRect">
            <a:avLst>
              <a:gd name="adj" fmla="val 2015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2194560"/>
            <a:ext cx="566928" cy="5669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16" name="Text 14"/>
          <p:cNvSpPr/>
          <p:nvPr/>
        </p:nvSpPr>
        <p:spPr>
          <a:xfrm>
            <a:off x="8814816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00616" y="22128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retraining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33104" y="297180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system prompt + user input + retrieved context is assembled at inference time. Knowledge is injected on the fly — no costly fine-tuning, making it efficient and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improved accuracy for every model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41B47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D8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53.61%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0" y="3200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(gpt-4.1) — up from 16.26% without the framework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01000" y="425196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3F0FB"/>
          </a:solidFill>
          <a:ln w="12700">
            <a:solidFill>
              <a:srgbClr val="E0D8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44348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+37.35 pts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0" y="50292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for the strongest model. Evaluated on 900 free-text / NOTAM pairs from Indonesian operations (exact-match criterion).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 for the region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502920" cy="50292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854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&amp; workload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80720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drafting effort and faster turnaround for aeronautical information services, with lower risk of human coding error.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167128"/>
            <a:ext cx="502920" cy="50292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1854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280720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compliant drafting achievable for staff who are not deeply specialised in NOTAM codification — a foundation for AIM digitalization.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590288"/>
            <a:ext cx="502920" cy="50292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085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52303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Decision-support, not autonomous issuance. The trained officer and existing review process remain central; deployment assessed within the SMS.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2976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5FC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590288"/>
            <a:ext cx="502920" cy="50292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6085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Standards-anchored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47688" y="52303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low-cost model for Action Items 60/21 (AI) and 60/22 (data-driven, best-practice sharing) — anchored to ICAO Doc 8400.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D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BY THE CONFERENCE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Conference is invited to: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102412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research by AirNav Indonesia and Telkom University applying RAG to automated NOTAM description generation, and the significant accuracy gains reported;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15184"/>
            <a:ext cx="102412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this as a concrete, low-cost example of the AI opportunity (Action Item 60/21) and the data-driven, best-practice-sharing approach (60/22);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65576"/>
            <a:ext cx="102412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States to explore AI decision-support for AIM that keeps authoritative standards and human validation central, assessed within the SMS;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457200" cy="45720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102412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States to share datasets, methods and lessons learned on AI for AIM through the ICAO APAC Data Analytics Group and relevant AIM fora; and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ED8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166360"/>
            <a:ext cx="1024128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ICAO and States to consider the implications of AI-assisted NOTAM production for future guidance on AIS digitalization.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669280" cy="5669280"/>
          </a:xfrm>
          <a:prstGeom prst="ellipse">
            <a:avLst/>
          </a:prstGeom>
          <a:solidFill>
            <a:srgbClr val="5B3FA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applied with domain knowledge and human oversight, can meaningfully assist the production of standards-compliant NOTAMs.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60120" y="4480560"/>
            <a:ext cx="2743200" cy="0"/>
          </a:xfrm>
          <a:prstGeom prst="line">
            <a:avLst/>
          </a:prstGeom>
          <a:noFill/>
          <a:ln w="31750">
            <a:solidFill>
              <a:srgbClr val="2ED8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AirNav Indonesia &amp; Telkom University  ·  61st APAC DGCA Conference, Kuala Lumpur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2026-07-22T04:50:56Z</dcterms:created>
  <dcterms:modified xsi:type="dcterms:W3CDTF">2026-07-22T04:50:56Z</dcterms:modified>
</cp:coreProperties>
</file>