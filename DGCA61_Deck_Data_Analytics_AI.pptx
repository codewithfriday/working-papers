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8778240" y="-2011680"/>
            <a:ext cx="5669280" cy="5669280"/>
          </a:xfrm>
          <a:prstGeom prst="ellipse">
            <a:avLst/>
          </a:prstGeom>
          <a:solidFill>
            <a:srgbClr val="028090">
              <a:alpha val="40000"/>
            </a:srgbClr>
          </a:solidFill>
          <a:ln/>
        </p:spPr>
      </p:sp>
      <p:sp>
        <p:nvSpPr>
          <p:cNvPr id="3" name="Shape 1"/>
          <p:cNvSpPr/>
          <p:nvPr/>
        </p:nvSpPr>
        <p:spPr>
          <a:xfrm>
            <a:off x="9875520" y="-1005840"/>
            <a:ext cx="3474720" cy="3474720"/>
          </a:xfrm>
          <a:prstGeom prst="ellipse">
            <a:avLst/>
          </a:prstGeom>
          <a:solidFill>
            <a:srgbClr val="02C39A">
              <a:alpha val="55000"/>
            </a:srgbClr>
          </a:solidFill>
          <a:ln/>
        </p:spPr>
      </p:sp>
      <p:sp>
        <p:nvSpPr>
          <p:cNvPr id="4" name="Text 2"/>
          <p:cNvSpPr/>
          <p:nvPr/>
        </p:nvSpPr>
        <p:spPr>
          <a:xfrm>
            <a:off x="640080" y="548640"/>
            <a:ext cx="10058400" cy="365760"/>
          </a:xfrm>
          <a:prstGeom prst="rect">
            <a:avLst/>
          </a:prstGeom>
          <a:noFill/>
          <a:ln/>
        </p:spPr>
        <p:txBody>
          <a:bodyPr wrap="square" rtlCol="0" anchor="ctr"/>
          <a:lstStyle/>
          <a:p>
            <a:pPr indent="0" marL="0">
              <a:buNone/>
            </a:pPr>
            <a:r>
              <a:rPr lang="en-US" sz="1200" b="1" spc="200" kern="0" dirty="0">
                <a:solidFill>
                  <a:srgbClr val="BCE6DE"/>
                </a:solidFill>
                <a:latin typeface="Calibri" pitchFamily="34" charset="0"/>
                <a:ea typeface="Calibri" pitchFamily="34" charset="-122"/>
                <a:cs typeface="Calibri" pitchFamily="34" charset="-120"/>
              </a:rPr>
              <a:t>61st APAC DGCA CONFERENCE  ·  KUALA LUMPUR, MALAYSIA  ·  2026</a:t>
            </a:r>
            <a:endParaRPr lang="en-US" sz="1200" dirty="0"/>
          </a:p>
        </p:txBody>
      </p:sp>
      <p:sp>
        <p:nvSpPr>
          <p:cNvPr id="5" name="Text 3"/>
          <p:cNvSpPr/>
          <p:nvPr/>
        </p:nvSpPr>
        <p:spPr>
          <a:xfrm>
            <a:off x="640080" y="1051560"/>
            <a:ext cx="9144000" cy="36576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Agenda Item 4 — Air Navigation</a:t>
            </a:r>
            <a:endParaRPr lang="en-US" sz="1300" dirty="0"/>
          </a:p>
        </p:txBody>
      </p:sp>
      <p:sp>
        <p:nvSpPr>
          <p:cNvPr id="6" name="Text 4"/>
          <p:cNvSpPr/>
          <p:nvPr/>
        </p:nvSpPr>
        <p:spPr>
          <a:xfrm>
            <a:off x="640080" y="1828800"/>
            <a:ext cx="10424160" cy="2194560"/>
          </a:xfrm>
          <a:prstGeom prst="rect">
            <a:avLst/>
          </a:prstGeom>
          <a:noFill/>
          <a:ln/>
        </p:spPr>
        <p:txBody>
          <a:bodyPr wrap="square" rtlCol="0" anchor="ctr"/>
          <a:lstStyle/>
          <a:p>
            <a:pPr indent="0" marL="0">
              <a:lnSpc>
                <a:spcPct val="102000"/>
              </a:lnSpc>
              <a:buNone/>
            </a:pPr>
            <a:r>
              <a:rPr lang="en-US" sz="3400" b="1" dirty="0">
                <a:solidFill>
                  <a:srgbClr val="FFFFFF"/>
                </a:solidFill>
                <a:latin typeface="Cambria" pitchFamily="34" charset="0"/>
                <a:ea typeface="Cambria" pitchFamily="34" charset="-122"/>
                <a:cs typeface="Cambria" pitchFamily="34" charset="-120"/>
              </a:rPr>
              <a:t>A Data-Driven Approach to Air Traffic Management</a:t>
            </a:r>
            <a:endParaRPr lang="en-US" sz="3400" dirty="0"/>
          </a:p>
        </p:txBody>
      </p:sp>
      <p:sp>
        <p:nvSpPr>
          <p:cNvPr id="7" name="Text 5"/>
          <p:cNvSpPr/>
          <p:nvPr/>
        </p:nvSpPr>
        <p:spPr>
          <a:xfrm>
            <a:off x="640080" y="4114800"/>
            <a:ext cx="10241280" cy="822960"/>
          </a:xfrm>
          <a:prstGeom prst="rect">
            <a:avLst/>
          </a:prstGeom>
          <a:noFill/>
          <a:ln/>
        </p:spPr>
        <p:txBody>
          <a:bodyPr wrap="square" rtlCol="0" anchor="ctr"/>
          <a:lstStyle/>
          <a:p>
            <a:pPr indent="0" marL="0">
              <a:buNone/>
            </a:pPr>
            <a:r>
              <a:rPr lang="en-US" sz="1700" dirty="0">
                <a:solidFill>
                  <a:srgbClr val="BCE6DE"/>
                </a:solidFill>
                <a:latin typeface="Calibri" pitchFamily="34" charset="0"/>
                <a:ea typeface="Calibri" pitchFamily="34" charset="-122"/>
                <a:cs typeface="Calibri" pitchFamily="34" charset="-120"/>
              </a:rPr>
              <a:t>Analytics capability, common regional KPIs, and the responsible use of Artificial Intelligence</a:t>
            </a:r>
            <a:endParaRPr lang="en-US" sz="1700" dirty="0"/>
          </a:p>
        </p:txBody>
      </p:sp>
      <p:sp>
        <p:nvSpPr>
          <p:cNvPr id="8" name="Shape 6"/>
          <p:cNvSpPr/>
          <p:nvPr/>
        </p:nvSpPr>
        <p:spPr>
          <a:xfrm>
            <a:off x="685800" y="5349240"/>
            <a:ext cx="2926080" cy="0"/>
          </a:xfrm>
          <a:prstGeom prst="line">
            <a:avLst/>
          </a:prstGeom>
          <a:noFill/>
          <a:ln w="31750">
            <a:solidFill>
              <a:srgbClr val="02C39A"/>
            </a:solidFill>
            <a:prstDash val="solid"/>
          </a:ln>
        </p:spPr>
      </p:sp>
      <p:sp>
        <p:nvSpPr>
          <p:cNvPr id="9" name="Text 7"/>
          <p:cNvSpPr/>
          <p:nvPr/>
        </p:nvSpPr>
        <p:spPr>
          <a:xfrm>
            <a:off x="640080" y="5532120"/>
            <a:ext cx="100584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Presented by Indonesia  ·  AirNav Indonesia (Perum LPPNPI)</a:t>
            </a:r>
            <a:endParaRPr lang="en-US" sz="1500" dirty="0"/>
          </a:p>
        </p:txBody>
      </p:sp>
      <p:sp>
        <p:nvSpPr>
          <p:cNvPr id="10" name="Text 8"/>
          <p:cNvSpPr/>
          <p:nvPr/>
        </p:nvSpPr>
        <p:spPr>
          <a:xfrm>
            <a:off x="640080" y="6126480"/>
            <a:ext cx="10789920" cy="365760"/>
          </a:xfrm>
          <a:prstGeom prst="rect">
            <a:avLst/>
          </a:prstGeom>
          <a:noFill/>
          <a:ln/>
        </p:spPr>
        <p:txBody>
          <a:bodyPr wrap="square" rtlCol="0" anchor="ctr"/>
          <a:lstStyle/>
          <a:p>
            <a:pPr indent="0" marL="0">
              <a:buNone/>
            </a:pPr>
            <a:r>
              <a:rPr lang="en-US" sz="1100" dirty="0">
                <a:solidFill>
                  <a:srgbClr val="BCE6DE"/>
                </a:solidFill>
                <a:latin typeface="Calibri" pitchFamily="34" charset="0"/>
                <a:ea typeface="Calibri" pitchFamily="34" charset="-122"/>
                <a:cs typeface="Calibri" pitchFamily="34" charset="-120"/>
              </a:rPr>
              <a:t>Theme: Smart Skies — Emerging Technologies for Safe, Secure, Sustainable and Efficient Aviation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MANDATE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Responding to Action Items 60/22 and 60/21</a:t>
            </a:r>
            <a:endParaRPr lang="en-US" sz="2800" dirty="0"/>
          </a:p>
        </p:txBody>
      </p:sp>
      <p:sp>
        <p:nvSpPr>
          <p:cNvPr id="4" name="Text 2"/>
          <p:cNvSpPr/>
          <p:nvPr/>
        </p:nvSpPr>
        <p:spPr>
          <a:xfrm>
            <a:off x="640080" y="1783080"/>
            <a:ext cx="6400800" cy="3291840"/>
          </a:xfrm>
          <a:prstGeom prst="rect">
            <a:avLst/>
          </a:prstGeom>
          <a:noFill/>
          <a:ln/>
        </p:spPr>
        <p:txBody>
          <a:bodyPr wrap="square" rtlCol="0" anchor="t"/>
          <a:lstStyle/>
          <a:p>
            <a:pPr indent="0" marL="0">
              <a:lnSpc>
                <a:spcPct val="125000"/>
              </a:lnSpc>
              <a:buNone/>
            </a:pPr>
            <a:r>
              <a:rPr lang="en-US" sz="1500" dirty="0">
                <a:solidFill>
                  <a:srgbClr val="333333"/>
                </a:solidFill>
                <a:latin typeface="Calibri" pitchFamily="34" charset="0"/>
                <a:ea typeface="Calibri" pitchFamily="34" charset="-122"/>
                <a:cs typeface="Calibri" pitchFamily="34" charset="-120"/>
              </a:rPr>
              <a:t>Action Item 60/22 called on States to adopt a data-driven approach in ATM, develop regional KPIs, enhance analytics, promote governed data sharing, and participate in the ICAO APAC Data Analytics Group (DAG). Action Item 60/21 recognised the potential of AI to enhance efficiency and performance.</a:t>
            </a:r>
            <a:endParaRPr lang="en-US" sz="1500" dirty="0"/>
          </a:p>
          <a:p>
            <a:pPr indent="0" marL="0">
              <a:lnSpc>
                <a:spcPct val="125000"/>
              </a:lnSpc>
              <a:buNone/>
            </a:pPr>
            <a:endParaRPr lang="en-US" sz="1500" dirty="0"/>
          </a:p>
          <a:p>
            <a:pPr indent="0" marL="0">
              <a:lnSpc>
                <a:spcPct val="125000"/>
              </a:lnSpc>
              <a:buNone/>
            </a:pPr>
            <a:r>
              <a:rPr lang="en-US" sz="1500" dirty="0">
                <a:solidFill>
                  <a:srgbClr val="333333"/>
                </a:solidFill>
                <a:latin typeface="Calibri" pitchFamily="34" charset="0"/>
                <a:ea typeface="Calibri" pitchFamily="34" charset="-122"/>
                <a:cs typeface="Calibri" pitchFamily="34" charset="-120"/>
              </a:rPr>
              <a:t>The efficiency of the regional network cannot be managed without measuring it consistently. Divergent national metrics prevent like-for-like comparison and make it impossible to target investment where it delivers the greatest regional benefit. A shared performance language is the precondition for a seamless ATM system.</a:t>
            </a:r>
            <a:endParaRPr lang="en-US" sz="1500" dirty="0"/>
          </a:p>
        </p:txBody>
      </p:sp>
      <p:sp>
        <p:nvSpPr>
          <p:cNvPr id="5" name="Shape 3"/>
          <p:cNvSpPr/>
          <p:nvPr/>
        </p:nvSpPr>
        <p:spPr>
          <a:xfrm>
            <a:off x="7360920" y="1783080"/>
            <a:ext cx="4160520" cy="4023360"/>
          </a:xfrm>
          <a:prstGeom prst="roundRect">
            <a:avLst>
              <a:gd name="adj" fmla="val 2727"/>
            </a:avLst>
          </a:prstGeom>
          <a:solidFill>
            <a:srgbClr val="013A40"/>
          </a:solidFill>
          <a:ln/>
          <a:effectLst>
            <a:outerShdw sx="100000" sy="100000" kx="0" ky="0" algn="bl" rotWithShape="0" blurRad="101600" dist="38100" dir="5400000">
              <a:srgbClr val="888888">
                <a:alpha val="35000"/>
              </a:srgbClr>
            </a:outerShdw>
          </a:effectLst>
        </p:spPr>
      </p:sp>
      <p:sp>
        <p:nvSpPr>
          <p:cNvPr id="6" name="Text 4"/>
          <p:cNvSpPr/>
          <p:nvPr/>
        </p:nvSpPr>
        <p:spPr>
          <a:xfrm>
            <a:off x="7635240" y="2011680"/>
            <a:ext cx="3657600" cy="457200"/>
          </a:xfrm>
          <a:prstGeom prst="rect">
            <a:avLst/>
          </a:prstGeom>
          <a:noFill/>
          <a:ln/>
        </p:spPr>
        <p:txBody>
          <a:bodyPr wrap="square" rtlCol="0" anchor="ctr"/>
          <a:lstStyle/>
          <a:p>
            <a:pPr indent="0" marL="0">
              <a:buNone/>
            </a:pPr>
            <a:r>
              <a:rPr lang="en-US" sz="1300" b="1" spc="100" kern="0" dirty="0">
                <a:solidFill>
                  <a:srgbClr val="02C39A"/>
                </a:solidFill>
                <a:latin typeface="Calibri" pitchFamily="34" charset="0"/>
                <a:ea typeface="Calibri" pitchFamily="34" charset="-122"/>
                <a:cs typeface="Calibri" pitchFamily="34" charset="-120"/>
              </a:rPr>
              <a:t>ACTION ITEM 60/22</a:t>
            </a:r>
            <a:endParaRPr lang="en-US" sz="1300" dirty="0"/>
          </a:p>
        </p:txBody>
      </p:sp>
      <p:sp>
        <p:nvSpPr>
          <p:cNvPr id="7" name="Text 5"/>
          <p:cNvSpPr/>
          <p:nvPr/>
        </p:nvSpPr>
        <p:spPr>
          <a:xfrm>
            <a:off x="7635240" y="2514600"/>
            <a:ext cx="3611880" cy="3108960"/>
          </a:xfrm>
          <a:prstGeom prst="rect">
            <a:avLst/>
          </a:prstGeom>
          <a:noFill/>
          <a:ln/>
        </p:spPr>
        <p:txBody>
          <a:bodyPr wrap="square" rtlCol="0" anchor="t"/>
          <a:lstStyle/>
          <a:p>
            <a:pPr indent="0" marL="0">
              <a:lnSpc>
                <a:spcPct val="122000"/>
              </a:lnSpc>
              <a:buNone/>
            </a:pPr>
            <a:r>
              <a:rPr lang="en-US" sz="1350" dirty="0">
                <a:solidFill>
                  <a:srgbClr val="FFFFFF"/>
                </a:solidFill>
                <a:latin typeface="Calibri" pitchFamily="34" charset="0"/>
                <a:ea typeface="Calibri" pitchFamily="34" charset="-122"/>
                <a:cs typeface="Calibri" pitchFamily="34" charset="-120"/>
              </a:rPr>
              <a:t>"… adopt a data-driven approach in ATM, develop regional KPIs, enhance analytics capabilities, promote data sharing with strong governance, and participate in the ICAO APAC Data Analytics Group (DAG)." — APAC DGCA60</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FROM DATA TO PERFORMANCE</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Building the capability</a:t>
            </a:r>
            <a:endParaRPr lang="en-US" sz="2800" dirty="0"/>
          </a:p>
        </p:txBody>
      </p:sp>
      <p:sp>
        <p:nvSpPr>
          <p:cNvPr id="4" name="Shape 2"/>
          <p:cNvSpPr/>
          <p:nvPr/>
        </p:nvSpPr>
        <p:spPr>
          <a:xfrm>
            <a:off x="640080" y="1874520"/>
            <a:ext cx="3413760" cy="4480560"/>
          </a:xfrm>
          <a:prstGeom prst="roundRect">
            <a:avLst>
              <a:gd name="adj" fmla="val 2143"/>
            </a:avLst>
          </a:prstGeom>
          <a:solidFill>
            <a:srgbClr val="F4F6F8"/>
          </a:solidFill>
          <a:ln w="12700">
            <a:solidFill>
              <a:srgbClr val="E2E8EE"/>
            </a:solidFill>
            <a:prstDash val="solid"/>
          </a:ln>
        </p:spPr>
      </p:sp>
      <p:sp>
        <p:nvSpPr>
          <p:cNvPr id="5" name="Shape 3"/>
          <p:cNvSpPr/>
          <p:nvPr/>
        </p:nvSpPr>
        <p:spPr>
          <a:xfrm>
            <a:off x="896112" y="2130552"/>
            <a:ext cx="548640" cy="548640"/>
          </a:xfrm>
          <a:prstGeom prst="ellipse">
            <a:avLst/>
          </a:prstGeom>
          <a:solidFill>
            <a:srgbClr val="028090"/>
          </a:solidFill>
          <a:ln/>
        </p:spPr>
      </p:sp>
      <p:sp>
        <p:nvSpPr>
          <p:cNvPr id="6" name="Text 4"/>
          <p:cNvSpPr/>
          <p:nvPr/>
        </p:nvSpPr>
        <p:spPr>
          <a:xfrm>
            <a:off x="8961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2130552"/>
            <a:ext cx="22250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Anchored in ICAO’s framework</a:t>
            </a:r>
            <a:endParaRPr lang="en-US" sz="1550" dirty="0"/>
          </a:p>
        </p:txBody>
      </p:sp>
      <p:sp>
        <p:nvSpPr>
          <p:cNvPr id="8" name="Text 6"/>
          <p:cNvSpPr/>
          <p:nvPr/>
        </p:nvSpPr>
        <p:spPr>
          <a:xfrm>
            <a:off x="9326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Measurement follows Doc 9883 and the GANP performance component — safety, capacity, efficiency, flexibility, predictability and environment. Raw surveillance and flight data become KPIs comparable over time and across FIRs.</a:t>
            </a:r>
            <a:endParaRPr lang="en-US" sz="1250" dirty="0"/>
          </a:p>
        </p:txBody>
      </p:sp>
      <p:sp>
        <p:nvSpPr>
          <p:cNvPr id="9" name="Shape 7"/>
          <p:cNvSpPr/>
          <p:nvPr/>
        </p:nvSpPr>
        <p:spPr>
          <a:xfrm>
            <a:off x="4373880" y="1874520"/>
            <a:ext cx="3413760" cy="4480560"/>
          </a:xfrm>
          <a:prstGeom prst="roundRect">
            <a:avLst>
              <a:gd name="adj" fmla="val 2143"/>
            </a:avLst>
          </a:prstGeom>
          <a:solidFill>
            <a:srgbClr val="F4F6F8"/>
          </a:solidFill>
          <a:ln w="12700">
            <a:solidFill>
              <a:srgbClr val="E2E8EE"/>
            </a:solidFill>
            <a:prstDash val="solid"/>
          </a:ln>
        </p:spPr>
      </p:sp>
      <p:sp>
        <p:nvSpPr>
          <p:cNvPr id="10" name="Shape 8"/>
          <p:cNvSpPr/>
          <p:nvPr/>
        </p:nvSpPr>
        <p:spPr>
          <a:xfrm>
            <a:off x="4629912" y="2130552"/>
            <a:ext cx="548640" cy="548640"/>
          </a:xfrm>
          <a:prstGeom prst="ellipse">
            <a:avLst/>
          </a:prstGeom>
          <a:solidFill>
            <a:srgbClr val="028090"/>
          </a:solidFill>
          <a:ln/>
        </p:spPr>
      </p:sp>
      <p:sp>
        <p:nvSpPr>
          <p:cNvPr id="11" name="Text 9"/>
          <p:cNvSpPr/>
          <p:nvPr/>
        </p:nvSpPr>
        <p:spPr>
          <a:xfrm>
            <a:off x="46299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334000" y="2130552"/>
            <a:ext cx="22250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Governance first</a:t>
            </a:r>
            <a:endParaRPr lang="en-US" sz="1550" dirty="0"/>
          </a:p>
        </p:txBody>
      </p:sp>
      <p:sp>
        <p:nvSpPr>
          <p:cNvPr id="13" name="Text 11"/>
          <p:cNvSpPr/>
          <p:nvPr/>
        </p:nvSpPr>
        <p:spPr>
          <a:xfrm>
            <a:off x="46664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Analytical value is set by data governance. Without clear definitions, quality controls, common time references and metadata, analytics produce numbers that cannot be trusted or compared. Governance is the first deliverable, not an afterthought.</a:t>
            </a:r>
            <a:endParaRPr lang="en-US" sz="1250" dirty="0"/>
          </a:p>
        </p:txBody>
      </p:sp>
      <p:sp>
        <p:nvSpPr>
          <p:cNvPr id="14" name="Shape 12"/>
          <p:cNvSpPr/>
          <p:nvPr/>
        </p:nvSpPr>
        <p:spPr>
          <a:xfrm>
            <a:off x="8107680" y="1874520"/>
            <a:ext cx="3413760" cy="4480560"/>
          </a:xfrm>
          <a:prstGeom prst="roundRect">
            <a:avLst>
              <a:gd name="adj" fmla="val 2143"/>
            </a:avLst>
          </a:prstGeom>
          <a:solidFill>
            <a:srgbClr val="F4F6F8"/>
          </a:solidFill>
          <a:ln w="12700">
            <a:solidFill>
              <a:srgbClr val="E2E8EE"/>
            </a:solidFill>
            <a:prstDash val="solid"/>
          </a:ln>
        </p:spPr>
      </p:sp>
      <p:sp>
        <p:nvSpPr>
          <p:cNvPr id="15" name="Shape 13"/>
          <p:cNvSpPr/>
          <p:nvPr/>
        </p:nvSpPr>
        <p:spPr>
          <a:xfrm>
            <a:off x="8363712" y="2130552"/>
            <a:ext cx="548640" cy="548640"/>
          </a:xfrm>
          <a:prstGeom prst="ellipse">
            <a:avLst/>
          </a:prstGeom>
          <a:solidFill>
            <a:srgbClr val="028090"/>
          </a:solidFill>
          <a:ln/>
        </p:spPr>
      </p:sp>
      <p:sp>
        <p:nvSpPr>
          <p:cNvPr id="16" name="Text 14"/>
          <p:cNvSpPr/>
          <p:nvPr/>
        </p:nvSpPr>
        <p:spPr>
          <a:xfrm>
            <a:off x="83637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67800" y="2130552"/>
            <a:ext cx="22250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Comparable regional KPIs</a:t>
            </a:r>
            <a:endParaRPr lang="en-US" sz="1550" dirty="0"/>
          </a:p>
        </p:txBody>
      </p:sp>
      <p:sp>
        <p:nvSpPr>
          <p:cNvPr id="18" name="Text 16"/>
          <p:cNvSpPr/>
          <p:nvPr/>
        </p:nvSpPr>
        <p:spPr>
          <a:xfrm>
            <a:off x="8400288" y="2862072"/>
            <a:ext cx="2846832" cy="32918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The priority is not more metrics but comparable ones: a compact set — horizontal/vertical flight efficiency, ATFM delay, predictability — computed the same way by every State under the DAG.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RESPONSIBLE AI IN ATM</a:t>
            </a:r>
            <a:endParaRPr lang="en-US" sz="12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Augmenting the controller, not replacing them</a:t>
            </a:r>
            <a:endParaRPr lang="en-US" sz="2800" dirty="0"/>
          </a:p>
        </p:txBody>
      </p:sp>
      <p:sp>
        <p:nvSpPr>
          <p:cNvPr id="4" name="Shape 2"/>
          <p:cNvSpPr/>
          <p:nvPr/>
        </p:nvSpPr>
        <p:spPr>
          <a:xfrm>
            <a:off x="640080" y="1874520"/>
            <a:ext cx="5280660" cy="2080260"/>
          </a:xfrm>
          <a:prstGeom prst="roundRect">
            <a:avLst>
              <a:gd name="adj" fmla="val 3516"/>
            </a:avLst>
          </a:prstGeom>
          <a:solidFill>
            <a:srgbClr val="F4F6F8"/>
          </a:solidFill>
          <a:ln w="12700">
            <a:solidFill>
              <a:srgbClr val="E2E8EE"/>
            </a:solidFill>
            <a:prstDash val="solid"/>
          </a:ln>
        </p:spPr>
      </p:sp>
      <p:sp>
        <p:nvSpPr>
          <p:cNvPr id="5" name="Shape 3"/>
          <p:cNvSpPr/>
          <p:nvPr/>
        </p:nvSpPr>
        <p:spPr>
          <a:xfrm>
            <a:off x="896112" y="2130552"/>
            <a:ext cx="548640" cy="548640"/>
          </a:xfrm>
          <a:prstGeom prst="ellipse">
            <a:avLst/>
          </a:prstGeom>
          <a:solidFill>
            <a:srgbClr val="028090"/>
          </a:solidFill>
          <a:ln/>
        </p:spPr>
      </p:sp>
      <p:sp>
        <p:nvSpPr>
          <p:cNvPr id="6" name="Text 4"/>
          <p:cNvSpPr/>
          <p:nvPr/>
        </p:nvSpPr>
        <p:spPr>
          <a:xfrm>
            <a:off x="8961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2130552"/>
            <a:ext cx="40919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Where AI helps</a:t>
            </a:r>
            <a:endParaRPr lang="en-US" sz="1550" dirty="0"/>
          </a:p>
        </p:txBody>
      </p:sp>
      <p:sp>
        <p:nvSpPr>
          <p:cNvPr id="8" name="Text 6"/>
          <p:cNvSpPr/>
          <p:nvPr/>
        </p:nvSpPr>
        <p:spPr>
          <a:xfrm>
            <a:off x="932688" y="2862072"/>
            <a:ext cx="4713732" cy="8915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Demand and delay prediction, trajectory and flow optimisation, MET nowcasting, conflict-risk and anomaly detection in surveillance data — as decision-support that augments the human controller.</a:t>
            </a:r>
            <a:endParaRPr lang="en-US" sz="1250" dirty="0"/>
          </a:p>
        </p:txBody>
      </p:sp>
      <p:sp>
        <p:nvSpPr>
          <p:cNvPr id="9" name="Shape 7"/>
          <p:cNvSpPr/>
          <p:nvPr/>
        </p:nvSpPr>
        <p:spPr>
          <a:xfrm>
            <a:off x="6240780" y="1874520"/>
            <a:ext cx="5280660" cy="2080260"/>
          </a:xfrm>
          <a:prstGeom prst="roundRect">
            <a:avLst>
              <a:gd name="adj" fmla="val 3516"/>
            </a:avLst>
          </a:prstGeom>
          <a:solidFill>
            <a:srgbClr val="F4F6F8"/>
          </a:solidFill>
          <a:ln w="12700">
            <a:solidFill>
              <a:srgbClr val="E2E8EE"/>
            </a:solidFill>
            <a:prstDash val="solid"/>
          </a:ln>
        </p:spPr>
      </p:sp>
      <p:sp>
        <p:nvSpPr>
          <p:cNvPr id="10" name="Shape 8"/>
          <p:cNvSpPr/>
          <p:nvPr/>
        </p:nvSpPr>
        <p:spPr>
          <a:xfrm>
            <a:off x="6496812" y="2130552"/>
            <a:ext cx="548640" cy="548640"/>
          </a:xfrm>
          <a:prstGeom prst="ellipse">
            <a:avLst/>
          </a:prstGeom>
          <a:solidFill>
            <a:srgbClr val="028090"/>
          </a:solidFill>
          <a:ln/>
        </p:spPr>
      </p:sp>
      <p:sp>
        <p:nvSpPr>
          <p:cNvPr id="11" name="Text 9"/>
          <p:cNvSpPr/>
          <p:nvPr/>
        </p:nvSpPr>
        <p:spPr>
          <a:xfrm>
            <a:off x="6496812" y="21305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200900" y="2130552"/>
            <a:ext cx="40919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Guardrails</a:t>
            </a:r>
            <a:endParaRPr lang="en-US" sz="1550" dirty="0"/>
          </a:p>
        </p:txBody>
      </p:sp>
      <p:sp>
        <p:nvSpPr>
          <p:cNvPr id="13" name="Text 11"/>
          <p:cNvSpPr/>
          <p:nvPr/>
        </p:nvSpPr>
        <p:spPr>
          <a:xfrm>
            <a:off x="6533388" y="2862072"/>
            <a:ext cx="4713732" cy="8915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Models must be transparent, explainable and validated; training data representative and governed; human oversight and accountability preserved; and any operational use assessed within the SMS before deployment.</a:t>
            </a:r>
            <a:endParaRPr lang="en-US" sz="1250" dirty="0"/>
          </a:p>
        </p:txBody>
      </p:sp>
      <p:sp>
        <p:nvSpPr>
          <p:cNvPr id="14" name="Shape 12"/>
          <p:cNvSpPr/>
          <p:nvPr/>
        </p:nvSpPr>
        <p:spPr>
          <a:xfrm>
            <a:off x="640080" y="4274820"/>
            <a:ext cx="5280660" cy="2080260"/>
          </a:xfrm>
          <a:prstGeom prst="roundRect">
            <a:avLst>
              <a:gd name="adj" fmla="val 3516"/>
            </a:avLst>
          </a:prstGeom>
          <a:solidFill>
            <a:srgbClr val="F4F6F8"/>
          </a:solidFill>
          <a:ln w="12700">
            <a:solidFill>
              <a:srgbClr val="E2E8EE"/>
            </a:solidFill>
            <a:prstDash val="solid"/>
          </a:ln>
        </p:spPr>
      </p:sp>
      <p:sp>
        <p:nvSpPr>
          <p:cNvPr id="15" name="Shape 13"/>
          <p:cNvSpPr/>
          <p:nvPr/>
        </p:nvSpPr>
        <p:spPr>
          <a:xfrm>
            <a:off x="896112" y="4530852"/>
            <a:ext cx="548640" cy="548640"/>
          </a:xfrm>
          <a:prstGeom prst="ellipse">
            <a:avLst/>
          </a:prstGeom>
          <a:solidFill>
            <a:srgbClr val="028090"/>
          </a:solidFill>
          <a:ln/>
        </p:spPr>
      </p:sp>
      <p:sp>
        <p:nvSpPr>
          <p:cNvPr id="16" name="Text 14"/>
          <p:cNvSpPr/>
          <p:nvPr/>
        </p:nvSpPr>
        <p:spPr>
          <a:xfrm>
            <a:off x="896112" y="45308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600200" y="4530852"/>
            <a:ext cx="40919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Aligned to ICAO</a:t>
            </a:r>
            <a:endParaRPr lang="en-US" sz="1550" dirty="0"/>
          </a:p>
        </p:txBody>
      </p:sp>
      <p:sp>
        <p:nvSpPr>
          <p:cNvPr id="18" name="Text 16"/>
          <p:cNvSpPr/>
          <p:nvPr/>
        </p:nvSpPr>
        <p:spPr>
          <a:xfrm>
            <a:off x="932688" y="5262372"/>
            <a:ext cx="4713732" cy="8915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This safety-first, human-centred approach aligns with emerging ICAO guidance on AI in aviation and with Action Item 60/13 on harmonising the regulation of complex technologies including AI.</a:t>
            </a:r>
            <a:endParaRPr lang="en-US" sz="1250" dirty="0"/>
          </a:p>
        </p:txBody>
      </p:sp>
      <p:sp>
        <p:nvSpPr>
          <p:cNvPr id="19" name="Shape 17"/>
          <p:cNvSpPr/>
          <p:nvPr/>
        </p:nvSpPr>
        <p:spPr>
          <a:xfrm>
            <a:off x="6240780" y="4274820"/>
            <a:ext cx="5280660" cy="2080260"/>
          </a:xfrm>
          <a:prstGeom prst="roundRect">
            <a:avLst>
              <a:gd name="adj" fmla="val 3516"/>
            </a:avLst>
          </a:prstGeom>
          <a:solidFill>
            <a:srgbClr val="F4F6F8"/>
          </a:solidFill>
          <a:ln w="12700">
            <a:solidFill>
              <a:srgbClr val="E2E8EE"/>
            </a:solidFill>
            <a:prstDash val="solid"/>
          </a:ln>
        </p:spPr>
      </p:sp>
      <p:sp>
        <p:nvSpPr>
          <p:cNvPr id="20" name="Shape 18"/>
          <p:cNvSpPr/>
          <p:nvPr/>
        </p:nvSpPr>
        <p:spPr>
          <a:xfrm>
            <a:off x="6496812" y="4530852"/>
            <a:ext cx="548640" cy="548640"/>
          </a:xfrm>
          <a:prstGeom prst="ellipse">
            <a:avLst/>
          </a:prstGeom>
          <a:solidFill>
            <a:srgbClr val="028090"/>
          </a:solidFill>
          <a:ln/>
        </p:spPr>
      </p:sp>
      <p:sp>
        <p:nvSpPr>
          <p:cNvPr id="21" name="Text 19"/>
          <p:cNvSpPr/>
          <p:nvPr/>
        </p:nvSpPr>
        <p:spPr>
          <a:xfrm>
            <a:off x="6496812" y="453085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200900" y="4530852"/>
            <a:ext cx="4091940" cy="64008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Shared, governed data</a:t>
            </a:r>
            <a:endParaRPr lang="en-US" sz="1550" dirty="0"/>
          </a:p>
        </p:txBody>
      </p:sp>
      <p:sp>
        <p:nvSpPr>
          <p:cNvPr id="23" name="Text 21"/>
          <p:cNvSpPr/>
          <p:nvPr/>
        </p:nvSpPr>
        <p:spPr>
          <a:xfrm>
            <a:off x="6533388" y="5262372"/>
            <a:ext cx="4713732" cy="891540"/>
          </a:xfrm>
          <a:prstGeom prst="rect">
            <a:avLst/>
          </a:prstGeom>
          <a:noFill/>
          <a:ln/>
        </p:spPr>
        <p:txBody>
          <a:bodyPr wrap="square" rtlCol="0" anchor="t"/>
          <a:lstStyle/>
          <a:p>
            <a:pPr indent="0" marL="0">
              <a:lnSpc>
                <a:spcPct val="116000"/>
              </a:lnSpc>
              <a:buNone/>
            </a:pPr>
            <a:r>
              <a:rPr lang="en-US" sz="1250" dirty="0">
                <a:solidFill>
                  <a:srgbClr val="3A4652"/>
                </a:solidFill>
                <a:latin typeface="Calibri" pitchFamily="34" charset="0"/>
                <a:ea typeface="Calibri" pitchFamily="34" charset="-122"/>
                <a:cs typeface="Calibri" pitchFamily="34" charset="-120"/>
              </a:rPr>
              <a:t>Regional benefit is unlocked only when data is shared across FIR boundaries under trusted governance — SWIM as the technical vehicle, the DAG as the institutional one. Indonesia offers data, methods and tooling.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640080" y="502920"/>
            <a:ext cx="10058400" cy="36576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ACTION BY THE CONFERENCE</a:t>
            </a:r>
            <a:endParaRPr lang="en-US" sz="1200" dirty="0"/>
          </a:p>
        </p:txBody>
      </p:sp>
      <p:sp>
        <p:nvSpPr>
          <p:cNvPr id="3" name="Text 1"/>
          <p:cNvSpPr/>
          <p:nvPr/>
        </p:nvSpPr>
        <p:spPr>
          <a:xfrm>
            <a:off x="640080" y="868680"/>
            <a:ext cx="1088136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Conference is invited to:</a:t>
            </a:r>
            <a:endParaRPr lang="en-US" sz="2600" dirty="0"/>
          </a:p>
        </p:txBody>
      </p:sp>
      <p:sp>
        <p:nvSpPr>
          <p:cNvPr id="4" name="Shape 2"/>
          <p:cNvSpPr/>
          <p:nvPr/>
        </p:nvSpPr>
        <p:spPr>
          <a:xfrm>
            <a:off x="640080" y="1828800"/>
            <a:ext cx="457200" cy="457200"/>
          </a:xfrm>
          <a:prstGeom prst="ellipse">
            <a:avLst/>
          </a:prstGeom>
          <a:solidFill>
            <a:srgbClr val="02C39A"/>
          </a:solidFill>
          <a:ln/>
        </p:spPr>
      </p:sp>
      <p:sp>
        <p:nvSpPr>
          <p:cNvPr id="5" name="Text 3"/>
          <p:cNvSpPr/>
          <p:nvPr/>
        </p:nvSpPr>
        <p:spPr>
          <a:xfrm>
            <a:off x="640080" y="1828800"/>
            <a:ext cx="45720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a</a:t>
            </a:r>
            <a:endParaRPr lang="en-US" sz="1500" dirty="0"/>
          </a:p>
        </p:txBody>
      </p:sp>
      <p:sp>
        <p:nvSpPr>
          <p:cNvPr id="6" name="Text 4"/>
          <p:cNvSpPr/>
          <p:nvPr/>
        </p:nvSpPr>
        <p:spPr>
          <a:xfrm>
            <a:off x="1280160" y="1746504"/>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note Indonesia’s progress in data-driven ATM — performance measurement, analytics governance and AI decision-support;</a:t>
            </a:r>
            <a:endParaRPr lang="en-US" sz="1400" dirty="0"/>
          </a:p>
        </p:txBody>
      </p:sp>
      <p:sp>
        <p:nvSpPr>
          <p:cNvPr id="7" name="Shape 5"/>
          <p:cNvSpPr/>
          <p:nvPr/>
        </p:nvSpPr>
        <p:spPr>
          <a:xfrm>
            <a:off x="640080" y="2660904"/>
            <a:ext cx="457200" cy="457200"/>
          </a:xfrm>
          <a:prstGeom prst="ellipse">
            <a:avLst/>
          </a:prstGeom>
          <a:solidFill>
            <a:srgbClr val="02C39A"/>
          </a:solidFill>
          <a:ln/>
        </p:spPr>
      </p:sp>
      <p:sp>
        <p:nvSpPr>
          <p:cNvPr id="8" name="Text 6"/>
          <p:cNvSpPr/>
          <p:nvPr/>
        </p:nvSpPr>
        <p:spPr>
          <a:xfrm>
            <a:off x="640080" y="2660904"/>
            <a:ext cx="45720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b</a:t>
            </a:r>
            <a:endParaRPr lang="en-US" sz="1500" dirty="0"/>
          </a:p>
        </p:txBody>
      </p:sp>
      <p:sp>
        <p:nvSpPr>
          <p:cNvPr id="9" name="Text 7"/>
          <p:cNvSpPr/>
          <p:nvPr/>
        </p:nvSpPr>
        <p:spPr>
          <a:xfrm>
            <a:off x="1280160" y="2578608"/>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States to prioritise data governance — definitions, quality controls and metadata — as the foundation of analytics;</a:t>
            </a:r>
            <a:endParaRPr lang="en-US" sz="1400" dirty="0"/>
          </a:p>
        </p:txBody>
      </p:sp>
      <p:sp>
        <p:nvSpPr>
          <p:cNvPr id="10" name="Shape 8"/>
          <p:cNvSpPr/>
          <p:nvPr/>
        </p:nvSpPr>
        <p:spPr>
          <a:xfrm>
            <a:off x="640080" y="3493008"/>
            <a:ext cx="457200" cy="457200"/>
          </a:xfrm>
          <a:prstGeom prst="ellipse">
            <a:avLst/>
          </a:prstGeom>
          <a:solidFill>
            <a:srgbClr val="02C39A"/>
          </a:solidFill>
          <a:ln/>
        </p:spPr>
      </p:sp>
      <p:sp>
        <p:nvSpPr>
          <p:cNvPr id="11" name="Text 9"/>
          <p:cNvSpPr/>
          <p:nvPr/>
        </p:nvSpPr>
        <p:spPr>
          <a:xfrm>
            <a:off x="640080" y="3493008"/>
            <a:ext cx="45720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c</a:t>
            </a:r>
            <a:endParaRPr lang="en-US" sz="1500" dirty="0"/>
          </a:p>
        </p:txBody>
      </p:sp>
      <p:sp>
        <p:nvSpPr>
          <p:cNvPr id="12" name="Text 10"/>
          <p:cNvSpPr/>
          <p:nvPr/>
        </p:nvSpPr>
        <p:spPr>
          <a:xfrm>
            <a:off x="1280160" y="3410712"/>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adoption of a compact set of harmonised regional KPIs through the ICAO APAC Data Analytics Group;</a:t>
            </a:r>
            <a:endParaRPr lang="en-US" sz="1400" dirty="0"/>
          </a:p>
        </p:txBody>
      </p:sp>
      <p:sp>
        <p:nvSpPr>
          <p:cNvPr id="13" name="Shape 11"/>
          <p:cNvSpPr/>
          <p:nvPr/>
        </p:nvSpPr>
        <p:spPr>
          <a:xfrm>
            <a:off x="640080" y="4325112"/>
            <a:ext cx="457200" cy="457200"/>
          </a:xfrm>
          <a:prstGeom prst="ellipse">
            <a:avLst/>
          </a:prstGeom>
          <a:solidFill>
            <a:srgbClr val="02C39A"/>
          </a:solidFill>
          <a:ln/>
        </p:spPr>
      </p:sp>
      <p:sp>
        <p:nvSpPr>
          <p:cNvPr id="14" name="Text 12"/>
          <p:cNvSpPr/>
          <p:nvPr/>
        </p:nvSpPr>
        <p:spPr>
          <a:xfrm>
            <a:off x="640080" y="4325112"/>
            <a:ext cx="45720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d</a:t>
            </a:r>
            <a:endParaRPr lang="en-US" sz="1500" dirty="0"/>
          </a:p>
        </p:txBody>
      </p:sp>
      <p:sp>
        <p:nvSpPr>
          <p:cNvPr id="15" name="Text 13"/>
          <p:cNvSpPr/>
          <p:nvPr/>
        </p:nvSpPr>
        <p:spPr>
          <a:xfrm>
            <a:off x="1280160" y="4242816"/>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encourage responsible AI in ATM — transparency, validation, human oversight and SMS assessment before operational use; and</a:t>
            </a:r>
            <a:endParaRPr lang="en-US" sz="1400" dirty="0"/>
          </a:p>
        </p:txBody>
      </p:sp>
      <p:sp>
        <p:nvSpPr>
          <p:cNvPr id="16" name="Shape 14"/>
          <p:cNvSpPr/>
          <p:nvPr/>
        </p:nvSpPr>
        <p:spPr>
          <a:xfrm>
            <a:off x="640080" y="5157216"/>
            <a:ext cx="457200" cy="457200"/>
          </a:xfrm>
          <a:prstGeom prst="ellipse">
            <a:avLst/>
          </a:prstGeom>
          <a:solidFill>
            <a:srgbClr val="02C39A"/>
          </a:solidFill>
          <a:ln/>
        </p:spPr>
      </p:sp>
      <p:sp>
        <p:nvSpPr>
          <p:cNvPr id="17" name="Text 15"/>
          <p:cNvSpPr/>
          <p:nvPr/>
        </p:nvSpPr>
        <p:spPr>
          <a:xfrm>
            <a:off x="640080" y="5157216"/>
            <a:ext cx="45720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e</a:t>
            </a:r>
            <a:endParaRPr lang="en-US" sz="1500" dirty="0"/>
          </a:p>
        </p:txBody>
      </p:sp>
      <p:sp>
        <p:nvSpPr>
          <p:cNvPr id="18" name="Text 16"/>
          <p:cNvSpPr/>
          <p:nvPr/>
        </p:nvSpPr>
        <p:spPr>
          <a:xfrm>
            <a:off x="1280160" y="5074920"/>
            <a:ext cx="10241280" cy="832104"/>
          </a:xfrm>
          <a:prstGeom prst="rect">
            <a:avLst/>
          </a:prstGeom>
          <a:noFill/>
          <a:ln/>
        </p:spPr>
        <p:txBody>
          <a:bodyPr wrap="square"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invite States to participate in and contribute data, methods and tooling to the ICAO APAC Data Analytics Group.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1828800" y="3291840"/>
            <a:ext cx="5669280" cy="5669280"/>
          </a:xfrm>
          <a:prstGeom prst="ellipse">
            <a:avLst/>
          </a:prstGeom>
          <a:solidFill>
            <a:srgbClr val="028090">
              <a:alpha val="45000"/>
            </a:srgbClr>
          </a:solidFill>
          <a:ln/>
        </p:spPr>
      </p:sp>
      <p:sp>
        <p:nvSpPr>
          <p:cNvPr id="3" name="Text 1"/>
          <p:cNvSpPr/>
          <p:nvPr/>
        </p:nvSpPr>
        <p:spPr>
          <a:xfrm>
            <a:off x="914400" y="2194560"/>
            <a:ext cx="10332720" cy="2194560"/>
          </a:xfrm>
          <a:prstGeom prst="rect">
            <a:avLst/>
          </a:prstGeom>
          <a:noFill/>
          <a:ln/>
        </p:spPr>
        <p:txBody>
          <a:bodyPr wrap="square" rtlCol="0" anchor="ctr"/>
          <a:lstStyle/>
          <a:p>
            <a:pPr indent="0" marL="0">
              <a:lnSpc>
                <a:spcPct val="110000"/>
              </a:lnSpc>
              <a:buNone/>
            </a:pPr>
            <a:r>
              <a:rPr lang="en-US" sz="2600" b="1" dirty="0">
                <a:solidFill>
                  <a:srgbClr val="FFFFFF"/>
                </a:solidFill>
                <a:latin typeface="Cambria" pitchFamily="34" charset="0"/>
                <a:ea typeface="Cambria" pitchFamily="34" charset="-122"/>
                <a:cs typeface="Cambria" pitchFamily="34" charset="-120"/>
              </a:rPr>
              <a:t>Governed data enables comparable KPIs; comparable KPIs provide the trusted foundation on which AI decision-support can be safely built.</a:t>
            </a:r>
            <a:endParaRPr lang="en-US" sz="2600" dirty="0"/>
          </a:p>
        </p:txBody>
      </p:sp>
      <p:sp>
        <p:nvSpPr>
          <p:cNvPr id="4" name="Shape 2"/>
          <p:cNvSpPr/>
          <p:nvPr/>
        </p:nvSpPr>
        <p:spPr>
          <a:xfrm>
            <a:off x="960120" y="4572000"/>
            <a:ext cx="2743200" cy="0"/>
          </a:xfrm>
          <a:prstGeom prst="line">
            <a:avLst/>
          </a:prstGeom>
          <a:noFill/>
          <a:ln w="31750">
            <a:solidFill>
              <a:srgbClr val="02C39A"/>
            </a:solidFill>
            <a:prstDash val="solid"/>
          </a:ln>
        </p:spPr>
      </p:sp>
      <p:sp>
        <p:nvSpPr>
          <p:cNvPr id="5" name="Text 3"/>
          <p:cNvSpPr/>
          <p:nvPr/>
        </p:nvSpPr>
        <p:spPr>
          <a:xfrm>
            <a:off x="914400" y="4754880"/>
            <a:ext cx="9144000" cy="548640"/>
          </a:xfrm>
          <a:prstGeom prst="rect">
            <a:avLst/>
          </a:prstGeom>
          <a:noFill/>
          <a:ln/>
        </p:spPr>
        <p:txBody>
          <a:bodyPr wrap="square" rtlCol="0" anchor="ctr"/>
          <a:lstStyle/>
          <a:p>
            <a:pPr indent="0" marL="0">
              <a:buNone/>
            </a:pPr>
            <a:r>
              <a:rPr lang="en-US" sz="1800" b="1" dirty="0">
                <a:solidFill>
                  <a:srgbClr val="BCE6DE"/>
                </a:solidFill>
                <a:latin typeface="Calibri" pitchFamily="34" charset="0"/>
                <a:ea typeface="Calibri" pitchFamily="34" charset="-122"/>
                <a:cs typeface="Calibri" pitchFamily="34" charset="-120"/>
              </a:rPr>
              <a:t>Terima kasih  ·  Thank you</a:t>
            </a:r>
            <a:endParaRPr lang="en-US" sz="1800" dirty="0"/>
          </a:p>
        </p:txBody>
      </p:sp>
      <p:sp>
        <p:nvSpPr>
          <p:cNvPr id="6" name="Text 4"/>
          <p:cNvSpPr/>
          <p:nvPr/>
        </p:nvSpPr>
        <p:spPr>
          <a:xfrm>
            <a:off x="914400" y="5349240"/>
            <a:ext cx="10058400" cy="365760"/>
          </a:xfrm>
          <a:prstGeom prst="rect">
            <a:avLst/>
          </a:prstGeom>
          <a:noFill/>
          <a:ln/>
        </p:spPr>
        <p:txBody>
          <a:bodyPr wrap="square" rtlCol="0" anchor="ctr"/>
          <a:lstStyle/>
          <a:p>
            <a:pPr indent="0" marL="0">
              <a:buNone/>
            </a:pPr>
            <a:r>
              <a:rPr lang="en-US" sz="1200" dirty="0">
                <a:solidFill>
                  <a:srgbClr val="BCE6DE"/>
                </a:solidFill>
                <a:latin typeface="Calibri" pitchFamily="34" charset="0"/>
                <a:ea typeface="Calibri" pitchFamily="34" charset="-122"/>
                <a:cs typeface="Calibri" pitchFamily="34" charset="-120"/>
              </a:rPr>
              <a:t>AirNav Indonesia  ·  61st APAC DGCA Conference, Kuala Lumpur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2026-07-22T02:56:32Z</dcterms:created>
  <dcterms:modified xsi:type="dcterms:W3CDTF">2026-07-22T02:56:32Z</dcterms:modified>
</cp:coreProperties>
</file>