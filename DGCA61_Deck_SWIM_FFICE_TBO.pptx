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05840"/>
            <a:ext cx="3474720" cy="3474720"/>
          </a:xfrm>
          <a:prstGeom prst="ellipse">
            <a:avLst/>
          </a:prstGeom>
          <a:solidFill>
            <a:srgbClr val="3FC1C9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B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61st APAC DGCA CONFERENCE  ·  KUALA LUMPUR, MALAYSIA  ·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Item 4 — Air Navigation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Advancing SWIM-Enabled FF-ICE and Trajectory Based Operations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Indonesian experience in building the information backbone for a seamless Asia/Pacific sky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2926080" cy="0"/>
          </a:xfrm>
          <a:prstGeom prst="line">
            <a:avLst/>
          </a:prstGeom>
          <a:noFill/>
          <a:ln w="31750">
            <a:solidFill>
              <a:srgbClr val="3FC1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532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Indonesia  ·  AirNav Indonesia (Perum LPPNPI)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Smart Skies — Emerging Technologies for Safe, Secure, Sustainable and Efficient Aviation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Responding to Action Item 60/20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60th DGCA Conference set the Asia/Pacific SWIM implementation timeframe at 2024–2030 and recognised SWIM as the enabler for the regional ATFM network and for future operations — FF-ICE and TBO.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manages the Jakarta and Makassar FIRs, among the busiest oceanic and continental flows in the region. The efficiency of these flows depends on States sharing a common, trajectory-centric picture of demand. Harmonised, interoperable implementation is therefore not optional — it is the precondition for region-wide benefit.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783080"/>
            <a:ext cx="4160520" cy="4023360"/>
          </a:xfrm>
          <a:prstGeom prst="roundRect">
            <a:avLst>
              <a:gd name="adj" fmla="val 272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3524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60/20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2514600"/>
            <a:ext cx="3611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"SWIM is an enabler for current operations, such as the regional ATFM network, and future operations, e.g. FF-ICE, TBO … SWIM implementation harmonised across the region is crucial to achieve region-wide benefits." — APAC DGCA60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13760" cy="4480560"/>
          </a:xfrm>
          <a:prstGeom prst="roundRect">
            <a:avLst>
              <a:gd name="adj" fmla="val 2143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305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222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SWIM — the backbone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862072"/>
            <a:ext cx="284683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service-oriented information sharing replaces fragmented point-to-point exchange. Common exchange models, a service registry and shared infrastructure let aeronautical, MET, flight, flow and surveillance data be reused as services.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3880" y="1874520"/>
            <a:ext cx="3413760" cy="4480560"/>
          </a:xfrm>
          <a:prstGeom prst="roundRect">
            <a:avLst>
              <a:gd name="adj" fmla="val 2143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9912" y="21305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2991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34000" y="2130552"/>
            <a:ext cx="222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FF-ICE — the flight object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66488" y="2862072"/>
            <a:ext cx="284683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machine-readable flight object exchanged over SWIM replaces the legacy 2012 flight plan — enabling collaborative planning, validation and trajectory negotiation before and during flight.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7680" y="1874520"/>
            <a:ext cx="3413760" cy="4480560"/>
          </a:xfrm>
          <a:prstGeom prst="roundRect">
            <a:avLst>
              <a:gd name="adj" fmla="val 2143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3712" y="21305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371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67800" y="2130552"/>
            <a:ext cx="222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TBO — the outcome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00288" y="2862072"/>
            <a:ext cx="284683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four-dimensional trajectory (4DT) becomes the single shared reference, managed collaboratively across ANSPs, airspace users and airports — delivering fuel, emissions and capacity gains.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AirNav Indonesia has done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80660" cy="2080260"/>
          </a:xfrm>
          <a:prstGeom prst="roundRect">
            <a:avLst>
              <a:gd name="adj" fmla="val 3516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305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40919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FF-ICE/R1 technical trial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862072"/>
            <a:ext cx="4713732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 in the APAC FF-ICE/R1 trial hosted by VATM in Hanoi (May 2025) with ~60 regional ANSP experts, and supported the follow-on laboratory demonstration — hands-on experience of filing, validation and planning services.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0780" y="1874520"/>
            <a:ext cx="5280660" cy="2080260"/>
          </a:xfrm>
          <a:prstGeom prst="roundRect">
            <a:avLst>
              <a:gd name="adj" fmla="val 3516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6812" y="21305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9681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00900" y="2130552"/>
            <a:ext cx="40919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TBO Pathfinder Project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3388" y="2862072"/>
            <a:ext cx="4713732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in the APAC Flight TBO Pathfinder Project, advancing TBO through concrete city-pair and cross-border demonstrations rather than theory alone — targeting long, multi-FIR flows where gains aggregate.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74820"/>
            <a:ext cx="5280660" cy="2080260"/>
          </a:xfrm>
          <a:prstGeom prst="roundRect">
            <a:avLst>
              <a:gd name="adj" fmla="val 3516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5308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5308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530852"/>
            <a:ext cx="40919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SWIM roadmap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32688" y="5262372"/>
            <a:ext cx="4713732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a national roadmap to the 2024–2030 timeframe: aligning AIM/MET data to ICAO models, standing up a service registry and governance, and staging connection to regional SWIM nodes.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0780" y="4274820"/>
            <a:ext cx="5280660" cy="2080260"/>
          </a:xfrm>
          <a:prstGeom prst="roundRect">
            <a:avLst>
              <a:gd name="adj" fmla="val 3516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6812" y="45308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6812" y="45308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00900" y="4530852"/>
            <a:ext cx="40919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3388" y="5262372"/>
            <a:ext cx="4713732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problems are practical, not conceptual: data quality, common time references, harmonised message implementation, and legacy flight-data systems consuming a structured flight object.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BY THE CONFERENCE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Conference is invited to: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46504"/>
            <a:ext cx="1024128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Indonesia’s progress in SWIM, FF-ICE and TBO and its role in the APAC TBO Pathfinder Project and FF-ICE/R1 trial;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457200" cy="457200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1024128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States to sequence national SWIM roadmaps to 2024–2030 — governance and data quality before application services;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10712"/>
            <a:ext cx="1024128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participation in regional FF-ICE/TBO trials and pathfinder demonstrations as low-cost ways to converge implementations;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25112"/>
            <a:ext cx="457200" cy="457200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242816"/>
            <a:ext cx="1024128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States to share roadmaps, trial findings and lessons learned through the ICAO APAC Regional Office; and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57216"/>
            <a:ext cx="457200" cy="457200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074920"/>
            <a:ext cx="1024128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 the APAC Regional Office to sustain the cadence of SWIM/FF-ICE/TBO seminars, workshops and trials toward 2030.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669280" cy="56692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SWIM, FF-ICE and TBO are one transformation, not three projects. Indonesia is committed to harmonised, interoperable delivery within the APAC 2024–2030 timeframe.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0120" y="4572000"/>
            <a:ext cx="2743200" cy="0"/>
          </a:xfrm>
          <a:prstGeom prst="line">
            <a:avLst/>
          </a:prstGeom>
          <a:noFill/>
          <a:ln w="31750">
            <a:solidFill>
              <a:srgbClr val="3FC1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754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 ·  Thank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AirNav Indonesia  ·  61st APAC DGCA Conference, Kuala Lumpur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2026-07-22T02:56:32Z</dcterms:created>
  <dcterms:modified xsi:type="dcterms:W3CDTF">2026-07-22T02:56:32Z</dcterms:modified>
</cp:coreProperties>
</file>