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669280" cy="5669280"/>
          </a:xfrm>
          <a:prstGeom prst="ellipse">
            <a:avLst/>
          </a:prstGeom>
          <a:solidFill>
            <a:srgbClr val="3A4EA1">
              <a:alpha val="40000"/>
            </a:srgbClr>
          </a:solidFill>
          <a:ln/>
        </p:spPr>
      </p:sp>
      <p:sp>
        <p:nvSpPr>
          <p:cNvPr id="3" name="Shape 1"/>
          <p:cNvSpPr/>
          <p:nvPr/>
        </p:nvSpPr>
        <p:spPr>
          <a:xfrm>
            <a:off x="9875520" y="-1005840"/>
            <a:ext cx="3474720" cy="3474720"/>
          </a:xfrm>
          <a:prstGeom prst="ellipse">
            <a:avLst/>
          </a:prstGeom>
          <a:solidFill>
            <a:srgbClr val="F4B740">
              <a:alpha val="55000"/>
            </a:srgbClr>
          </a:solidFill>
          <a:ln/>
        </p:spPr>
      </p:sp>
      <p:sp>
        <p:nvSpPr>
          <p:cNvPr id="4" name="Text 2"/>
          <p:cNvSpPr/>
          <p:nvPr/>
        </p:nvSpPr>
        <p:spPr>
          <a:xfrm>
            <a:off x="640080" y="548640"/>
            <a:ext cx="10058400" cy="36576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61st APAC DGCA CONFERENCE  ·  KUALA LUMPUR, MALAYSIA  ·  2026</a:t>
            </a:r>
            <a:endParaRPr lang="en-US" sz="1200" dirty="0"/>
          </a:p>
        </p:txBody>
      </p:sp>
      <p:sp>
        <p:nvSpPr>
          <p:cNvPr id="5" name="Text 3"/>
          <p:cNvSpPr/>
          <p:nvPr/>
        </p:nvSpPr>
        <p:spPr>
          <a:xfrm>
            <a:off x="640080" y="1051560"/>
            <a:ext cx="9144000" cy="365760"/>
          </a:xfrm>
          <a:prstGeom prst="rect">
            <a:avLst/>
          </a:prstGeom>
          <a:noFill/>
          <a:ln/>
        </p:spPr>
        <p:txBody>
          <a:bodyPr wrap="square" rtlCol="0" anchor="ctr"/>
          <a:lstStyle/>
          <a:p>
            <a:pPr indent="0" marL="0">
              <a:buNone/>
            </a:pPr>
            <a:r>
              <a:rPr lang="en-US" sz="1300" b="1" dirty="0">
                <a:solidFill>
                  <a:srgbClr val="F4B740"/>
                </a:solidFill>
                <a:latin typeface="Calibri" pitchFamily="34" charset="0"/>
                <a:ea typeface="Calibri" pitchFamily="34" charset="-122"/>
                <a:cs typeface="Calibri" pitchFamily="34" charset="-120"/>
              </a:rPr>
              <a:t>Agenda Item 3 — Aviation Safety</a:t>
            </a:r>
            <a:endParaRPr lang="en-US" sz="1300" dirty="0"/>
          </a:p>
        </p:txBody>
      </p:sp>
      <p:sp>
        <p:nvSpPr>
          <p:cNvPr id="6" name="Text 4"/>
          <p:cNvSpPr/>
          <p:nvPr/>
        </p:nvSpPr>
        <p:spPr>
          <a:xfrm>
            <a:off x="640080" y="1828800"/>
            <a:ext cx="10424160" cy="2194560"/>
          </a:xfrm>
          <a:prstGeom prst="rect">
            <a:avLst/>
          </a:prstGeom>
          <a:noFill/>
          <a:ln/>
        </p:spPr>
        <p:txBody>
          <a:bodyPr wrap="square" rtlCol="0" anchor="ctr"/>
          <a:lstStyle/>
          <a:p>
            <a:pPr indent="0" marL="0">
              <a:lnSpc>
                <a:spcPct val="102000"/>
              </a:lnSpc>
              <a:buNone/>
            </a:pPr>
            <a:r>
              <a:rPr lang="en-US" sz="3400" b="1" dirty="0">
                <a:solidFill>
                  <a:srgbClr val="FFFFFF"/>
                </a:solidFill>
                <a:latin typeface="Cambria" pitchFamily="34" charset="0"/>
                <a:ea typeface="Cambria" pitchFamily="34" charset="-122"/>
                <a:cs typeface="Cambria" pitchFamily="34" charset="-120"/>
              </a:rPr>
              <a:t>From Reactive to Predictive: Strengthening SMS</a:t>
            </a:r>
            <a:endParaRPr lang="en-US" sz="3400" dirty="0"/>
          </a:p>
        </p:txBody>
      </p:sp>
      <p:sp>
        <p:nvSpPr>
          <p:cNvPr id="7" name="Text 5"/>
          <p:cNvSpPr/>
          <p:nvPr/>
        </p:nvSpPr>
        <p:spPr>
          <a:xfrm>
            <a:off x="640080" y="4114800"/>
            <a:ext cx="10241280" cy="82296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Data analytics, positive safety culture and regional data sharing</a:t>
            </a:r>
            <a:endParaRPr lang="en-US" sz="1700" dirty="0"/>
          </a:p>
        </p:txBody>
      </p:sp>
      <p:sp>
        <p:nvSpPr>
          <p:cNvPr id="8" name="Shape 6"/>
          <p:cNvSpPr/>
          <p:nvPr/>
        </p:nvSpPr>
        <p:spPr>
          <a:xfrm>
            <a:off x="685800" y="5349240"/>
            <a:ext cx="2926080" cy="0"/>
          </a:xfrm>
          <a:prstGeom prst="line">
            <a:avLst/>
          </a:prstGeom>
          <a:noFill/>
          <a:ln w="31750">
            <a:solidFill>
              <a:srgbClr val="F4B740"/>
            </a:solidFill>
            <a:prstDash val="solid"/>
          </a:ln>
        </p:spPr>
      </p:sp>
      <p:sp>
        <p:nvSpPr>
          <p:cNvPr id="9" name="Text 7"/>
          <p:cNvSpPr/>
          <p:nvPr/>
        </p:nvSpPr>
        <p:spPr>
          <a:xfrm>
            <a:off x="640080" y="5532120"/>
            <a:ext cx="100584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Presented by Indonesia  ·  AirNav Indonesia (Perum LPPNPI)</a:t>
            </a:r>
            <a:endParaRPr lang="en-US" sz="1500" dirty="0"/>
          </a:p>
        </p:txBody>
      </p:sp>
      <p:sp>
        <p:nvSpPr>
          <p:cNvPr id="10" name="Text 8"/>
          <p:cNvSpPr/>
          <p:nvPr/>
        </p:nvSpPr>
        <p:spPr>
          <a:xfrm>
            <a:off x="640080" y="6126480"/>
            <a:ext cx="1078992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Theme: Smart Skies — Emerging Technologies for Safe, Secure, Sustainable and Efficient Aviation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3A4EA1"/>
                </a:solidFill>
                <a:latin typeface="Calibri" pitchFamily="34" charset="0"/>
                <a:ea typeface="Calibri" pitchFamily="34" charset="-122"/>
                <a:cs typeface="Calibri" pitchFamily="34" charset="-120"/>
              </a:rPr>
              <a:t>THE MANDATE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Responding to Action Items 60/8, 60/3 and 60/4</a:t>
            </a:r>
            <a:endParaRPr lang="en-US" sz="2800" dirty="0"/>
          </a:p>
        </p:txBody>
      </p:sp>
      <p:sp>
        <p:nvSpPr>
          <p:cNvPr id="4" name="Text 2"/>
          <p:cNvSpPr/>
          <p:nvPr/>
        </p:nvSpPr>
        <p:spPr>
          <a:xfrm>
            <a:off x="640080" y="1783080"/>
            <a:ext cx="6400800" cy="3291840"/>
          </a:xfrm>
          <a:prstGeom prst="rect">
            <a:avLst/>
          </a:prstGeom>
          <a:noFill/>
          <a:ln/>
        </p:spPr>
        <p:txBody>
          <a:bodyPr wrap="square" rtlCol="0" anchor="t"/>
          <a:lstStyle/>
          <a:p>
            <a:pPr indent="0" marL="0">
              <a:lnSpc>
                <a:spcPct val="125000"/>
              </a:lnSpc>
              <a:buNone/>
            </a:pPr>
            <a:r>
              <a:rPr lang="en-US" sz="1500" dirty="0">
                <a:solidFill>
                  <a:srgbClr val="333333"/>
                </a:solidFill>
                <a:latin typeface="Calibri" pitchFamily="34" charset="0"/>
                <a:ea typeface="Calibri" pitchFamily="34" charset="-122"/>
                <a:cs typeface="Calibri" pitchFamily="34" charset="-120"/>
              </a:rPr>
              <a:t>As traffic grows and the system becomes more complex, learning only from accidents after they occur is no longer sufficient. ICAO Annex 19 and the GASP call for safety management to mature from reactive, through proactive, to predictive — identifying and mitigating hazards before they result in occurrences.</a:t>
            </a:r>
            <a:endParaRPr lang="en-US" sz="1500" dirty="0"/>
          </a:p>
          <a:p>
            <a:pPr indent="0" marL="0">
              <a:lnSpc>
                <a:spcPct val="125000"/>
              </a:lnSpc>
              <a:buNone/>
            </a:pPr>
            <a:endParaRPr lang="en-US" sz="1500" dirty="0"/>
          </a:p>
          <a:p>
            <a:pPr indent="0" marL="0">
              <a:lnSpc>
                <a:spcPct val="125000"/>
              </a:lnSpc>
              <a:buNone/>
            </a:pPr>
            <a:r>
              <a:rPr lang="en-US" sz="1500" dirty="0">
                <a:solidFill>
                  <a:srgbClr val="333333"/>
                </a:solidFill>
                <a:latin typeface="Calibri" pitchFamily="34" charset="0"/>
                <a:ea typeface="Calibri" pitchFamily="34" charset="-122"/>
                <a:cs typeface="Calibri" pitchFamily="34" charset="-120"/>
              </a:rPr>
              <a:t>Action Item 60/8 encouraged predictive tools and regular performance reviews; 60/3 encouraged the Regional Data Sharing Initiative; 60/4 encouraged Positive Safety Culture as a safety enabler. AirNav Indonesia operates an approved SMS within Indonesia’s SSP and is strengthening its data capability, reporting culture and regional collaboration.</a:t>
            </a:r>
            <a:endParaRPr lang="en-US" sz="1500" dirty="0"/>
          </a:p>
        </p:txBody>
      </p:sp>
      <p:sp>
        <p:nvSpPr>
          <p:cNvPr id="5" name="Shape 3"/>
          <p:cNvSpPr/>
          <p:nvPr/>
        </p:nvSpPr>
        <p:spPr>
          <a:xfrm>
            <a:off x="7360920" y="1783080"/>
            <a:ext cx="4160520" cy="4023360"/>
          </a:xfrm>
          <a:prstGeom prst="roundRect">
            <a:avLst>
              <a:gd name="adj" fmla="val 2727"/>
            </a:avLst>
          </a:prstGeom>
          <a:solidFill>
            <a:srgbClr val="1E2761"/>
          </a:solidFill>
          <a:ln/>
          <a:effectLst>
            <a:outerShdw sx="100000" sy="100000" kx="0" ky="0" algn="bl" rotWithShape="0" blurRad="101600" dist="38100" dir="5400000">
              <a:srgbClr val="888888">
                <a:alpha val="35000"/>
              </a:srgbClr>
            </a:outerShdw>
          </a:effectLst>
        </p:spPr>
      </p:sp>
      <p:sp>
        <p:nvSpPr>
          <p:cNvPr id="6" name="Text 4"/>
          <p:cNvSpPr/>
          <p:nvPr/>
        </p:nvSpPr>
        <p:spPr>
          <a:xfrm>
            <a:off x="7635240" y="2011680"/>
            <a:ext cx="3657600" cy="457200"/>
          </a:xfrm>
          <a:prstGeom prst="rect">
            <a:avLst/>
          </a:prstGeom>
          <a:noFill/>
          <a:ln/>
        </p:spPr>
        <p:txBody>
          <a:bodyPr wrap="square" rtlCol="0" anchor="ctr"/>
          <a:lstStyle/>
          <a:p>
            <a:pPr indent="0" marL="0">
              <a:buNone/>
            </a:pPr>
            <a:r>
              <a:rPr lang="en-US" sz="1300" b="1" spc="100" kern="0" dirty="0">
                <a:solidFill>
                  <a:srgbClr val="F4B740"/>
                </a:solidFill>
                <a:latin typeface="Calibri" pitchFamily="34" charset="0"/>
                <a:ea typeface="Calibri" pitchFamily="34" charset="-122"/>
                <a:cs typeface="Calibri" pitchFamily="34" charset="-120"/>
              </a:rPr>
              <a:t>ACTION ITEM 60/8</a:t>
            </a:r>
            <a:endParaRPr lang="en-US" sz="1300" dirty="0"/>
          </a:p>
        </p:txBody>
      </p:sp>
      <p:sp>
        <p:nvSpPr>
          <p:cNvPr id="7" name="Text 5"/>
          <p:cNvSpPr/>
          <p:nvPr/>
        </p:nvSpPr>
        <p:spPr>
          <a:xfrm>
            <a:off x="7635240" y="2514600"/>
            <a:ext cx="3611880" cy="3108960"/>
          </a:xfrm>
          <a:prstGeom prst="rect">
            <a:avLst/>
          </a:prstGeom>
          <a:noFill/>
          <a:ln/>
        </p:spPr>
        <p:txBody>
          <a:bodyPr wrap="square" rtlCol="0" anchor="t"/>
          <a:lstStyle/>
          <a:p>
            <a:pPr indent="0" marL="0">
              <a:lnSpc>
                <a:spcPct val="122000"/>
              </a:lnSpc>
              <a:buNone/>
            </a:pPr>
            <a:r>
              <a:rPr lang="en-US" sz="1350" dirty="0">
                <a:solidFill>
                  <a:srgbClr val="FFFFFF"/>
                </a:solidFill>
                <a:latin typeface="Calibri" pitchFamily="34" charset="0"/>
                <a:ea typeface="Calibri" pitchFamily="34" charset="-122"/>
                <a:cs typeface="Calibri" pitchFamily="34" charset="-120"/>
              </a:rPr>
              <a:t>"… share best practices and innovative tools … enhance technical cooperation in civil-military data integration … consider the adoption of predictive tools and regular performance reviews." — APAC DGCA60</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3A4EA1"/>
                </a:solidFill>
                <a:latin typeface="Calibri" pitchFamily="34" charset="0"/>
                <a:ea typeface="Calibri" pitchFamily="34" charset="-122"/>
                <a:cs typeface="Calibri" pitchFamily="34" charset="-120"/>
              </a:rPr>
              <a:t>THREE FOUNDATIONS</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What makes SMS predictive</a:t>
            </a:r>
            <a:endParaRPr lang="en-US" sz="2800" dirty="0"/>
          </a:p>
        </p:txBody>
      </p:sp>
      <p:sp>
        <p:nvSpPr>
          <p:cNvPr id="4" name="Shape 2"/>
          <p:cNvSpPr/>
          <p:nvPr/>
        </p:nvSpPr>
        <p:spPr>
          <a:xfrm>
            <a:off x="640080" y="1874520"/>
            <a:ext cx="3413760" cy="4480560"/>
          </a:xfrm>
          <a:prstGeom prst="roundRect">
            <a:avLst>
              <a:gd name="adj" fmla="val 2143"/>
            </a:avLst>
          </a:prstGeom>
          <a:solidFill>
            <a:srgbClr val="F4F6F8"/>
          </a:solidFill>
          <a:ln w="12700">
            <a:solidFill>
              <a:srgbClr val="E2E8EE"/>
            </a:solidFill>
            <a:prstDash val="solid"/>
          </a:ln>
        </p:spPr>
      </p:sp>
      <p:sp>
        <p:nvSpPr>
          <p:cNvPr id="5" name="Shape 3"/>
          <p:cNvSpPr/>
          <p:nvPr/>
        </p:nvSpPr>
        <p:spPr>
          <a:xfrm>
            <a:off x="896112" y="2130552"/>
            <a:ext cx="548640" cy="548640"/>
          </a:xfrm>
          <a:prstGeom prst="ellipse">
            <a:avLst/>
          </a:prstGeom>
          <a:solidFill>
            <a:srgbClr val="3A4EA1"/>
          </a:solidFill>
          <a:ln/>
        </p:spPr>
      </p:sp>
      <p:sp>
        <p:nvSpPr>
          <p:cNvPr id="6" name="Text 4"/>
          <p:cNvSpPr/>
          <p:nvPr/>
        </p:nvSpPr>
        <p:spPr>
          <a:xfrm>
            <a:off x="8961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Quality safety data</a:t>
            </a:r>
            <a:endParaRPr lang="en-US" sz="1550" dirty="0"/>
          </a:p>
        </p:txBody>
      </p:sp>
      <p:sp>
        <p:nvSpPr>
          <p:cNvPr id="8" name="Text 6"/>
          <p:cNvSpPr/>
          <p:nvPr/>
        </p:nvSpPr>
        <p:spPr>
          <a:xfrm>
            <a:off x="9326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Predictive management depends on systematic collection and analysis of data from many sources — mandatory and voluntary reports, operational and surveillance data, normal-operations monitoring — to spot precursors before incidents.</a:t>
            </a:r>
            <a:endParaRPr lang="en-US" sz="1250" dirty="0"/>
          </a:p>
        </p:txBody>
      </p:sp>
      <p:sp>
        <p:nvSpPr>
          <p:cNvPr id="9" name="Shape 7"/>
          <p:cNvSpPr/>
          <p:nvPr/>
        </p:nvSpPr>
        <p:spPr>
          <a:xfrm>
            <a:off x="4373880" y="1874520"/>
            <a:ext cx="3413760" cy="4480560"/>
          </a:xfrm>
          <a:prstGeom prst="roundRect">
            <a:avLst>
              <a:gd name="adj" fmla="val 2143"/>
            </a:avLst>
          </a:prstGeom>
          <a:solidFill>
            <a:srgbClr val="F4F6F8"/>
          </a:solidFill>
          <a:ln w="12700">
            <a:solidFill>
              <a:srgbClr val="E2E8EE"/>
            </a:solidFill>
            <a:prstDash val="solid"/>
          </a:ln>
        </p:spPr>
      </p:sp>
      <p:sp>
        <p:nvSpPr>
          <p:cNvPr id="10" name="Shape 8"/>
          <p:cNvSpPr/>
          <p:nvPr/>
        </p:nvSpPr>
        <p:spPr>
          <a:xfrm>
            <a:off x="4629912" y="2130552"/>
            <a:ext cx="548640" cy="548640"/>
          </a:xfrm>
          <a:prstGeom prst="ellipse">
            <a:avLst/>
          </a:prstGeom>
          <a:solidFill>
            <a:srgbClr val="3A4EA1"/>
          </a:solidFill>
          <a:ln/>
        </p:spPr>
      </p:sp>
      <p:sp>
        <p:nvSpPr>
          <p:cNvPr id="11" name="Text 9"/>
          <p:cNvSpPr/>
          <p:nvPr/>
        </p:nvSpPr>
        <p:spPr>
          <a:xfrm>
            <a:off x="46299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3340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Positive safety culture</a:t>
            </a:r>
            <a:endParaRPr lang="en-US" sz="1550" dirty="0"/>
          </a:p>
        </p:txBody>
      </p:sp>
      <p:sp>
        <p:nvSpPr>
          <p:cNvPr id="13" name="Text 11"/>
          <p:cNvSpPr/>
          <p:nvPr/>
        </p:nvSpPr>
        <p:spPr>
          <a:xfrm>
            <a:off x="46664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Predictive tools fail without data; data depends on reporting; reporting depends on culture. Just-culture principles, confidential channels and regular engagement keep the reporting stream rich and honest.</a:t>
            </a:r>
            <a:endParaRPr lang="en-US" sz="1250" dirty="0"/>
          </a:p>
        </p:txBody>
      </p:sp>
      <p:sp>
        <p:nvSpPr>
          <p:cNvPr id="14" name="Shape 12"/>
          <p:cNvSpPr/>
          <p:nvPr/>
        </p:nvSpPr>
        <p:spPr>
          <a:xfrm>
            <a:off x="8107680" y="1874520"/>
            <a:ext cx="3413760" cy="4480560"/>
          </a:xfrm>
          <a:prstGeom prst="roundRect">
            <a:avLst>
              <a:gd name="adj" fmla="val 2143"/>
            </a:avLst>
          </a:prstGeom>
          <a:solidFill>
            <a:srgbClr val="F4F6F8"/>
          </a:solidFill>
          <a:ln w="12700">
            <a:solidFill>
              <a:srgbClr val="E2E8EE"/>
            </a:solidFill>
            <a:prstDash val="solid"/>
          </a:ln>
        </p:spPr>
      </p:sp>
      <p:sp>
        <p:nvSpPr>
          <p:cNvPr id="15" name="Shape 13"/>
          <p:cNvSpPr/>
          <p:nvPr/>
        </p:nvSpPr>
        <p:spPr>
          <a:xfrm>
            <a:off x="8363712" y="2130552"/>
            <a:ext cx="548640" cy="548640"/>
          </a:xfrm>
          <a:prstGeom prst="ellipse">
            <a:avLst/>
          </a:prstGeom>
          <a:solidFill>
            <a:srgbClr val="3A4EA1"/>
          </a:solidFill>
          <a:ln/>
        </p:spPr>
      </p:sp>
      <p:sp>
        <p:nvSpPr>
          <p:cNvPr id="16" name="Text 14"/>
          <p:cNvSpPr/>
          <p:nvPr/>
        </p:nvSpPr>
        <p:spPr>
          <a:xfrm>
            <a:off x="83637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678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Regional data sharing</a:t>
            </a:r>
            <a:endParaRPr lang="en-US" sz="1550" dirty="0"/>
          </a:p>
        </p:txBody>
      </p:sp>
      <p:sp>
        <p:nvSpPr>
          <p:cNvPr id="18" name="Text 16"/>
          <p:cNvSpPr/>
          <p:nvPr/>
        </p:nvSpPr>
        <p:spPr>
          <a:xfrm>
            <a:off x="84002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Regional risks — runway safety, airspace infringement, CFIT precursors — are best understood from pooled, de-identified data. Indonesia supports the Regional Data Sharing Initiative and RASG-APAC/APRAST.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3A4EA1"/>
                </a:solidFill>
                <a:latin typeface="Calibri" pitchFamily="34" charset="0"/>
                <a:ea typeface="Calibri" pitchFamily="34" charset="-122"/>
                <a:cs typeface="Calibri" pitchFamily="34" charset="-120"/>
              </a:rPr>
              <a:t>PUTTING IT TO WORK</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Oversight, integration and the data link</a:t>
            </a:r>
            <a:endParaRPr lang="en-US" sz="2800" dirty="0"/>
          </a:p>
        </p:txBody>
      </p:sp>
      <p:sp>
        <p:nvSpPr>
          <p:cNvPr id="4" name="Shape 2"/>
          <p:cNvSpPr/>
          <p:nvPr/>
        </p:nvSpPr>
        <p:spPr>
          <a:xfrm>
            <a:off x="640080" y="1874520"/>
            <a:ext cx="3413760" cy="4480560"/>
          </a:xfrm>
          <a:prstGeom prst="roundRect">
            <a:avLst>
              <a:gd name="adj" fmla="val 2143"/>
            </a:avLst>
          </a:prstGeom>
          <a:solidFill>
            <a:srgbClr val="F4F6F8"/>
          </a:solidFill>
          <a:ln w="12700">
            <a:solidFill>
              <a:srgbClr val="E2E8EE"/>
            </a:solidFill>
            <a:prstDash val="solid"/>
          </a:ln>
        </p:spPr>
      </p:sp>
      <p:sp>
        <p:nvSpPr>
          <p:cNvPr id="5" name="Shape 3"/>
          <p:cNvSpPr/>
          <p:nvPr/>
        </p:nvSpPr>
        <p:spPr>
          <a:xfrm>
            <a:off x="896112" y="2130552"/>
            <a:ext cx="548640" cy="548640"/>
          </a:xfrm>
          <a:prstGeom prst="ellipse">
            <a:avLst/>
          </a:prstGeom>
          <a:solidFill>
            <a:srgbClr val="3A4EA1"/>
          </a:solidFill>
          <a:ln/>
        </p:spPr>
      </p:sp>
      <p:sp>
        <p:nvSpPr>
          <p:cNvPr id="6" name="Text 4"/>
          <p:cNvSpPr/>
          <p:nvPr/>
        </p:nvSpPr>
        <p:spPr>
          <a:xfrm>
            <a:off x="8961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Performance-based oversight</a:t>
            </a:r>
            <a:endParaRPr lang="en-US" sz="1550" dirty="0"/>
          </a:p>
        </p:txBody>
      </p:sp>
      <p:sp>
        <p:nvSpPr>
          <p:cNvPr id="8" name="Text 6"/>
          <p:cNvSpPr/>
          <p:nvPr/>
        </p:nvSpPr>
        <p:spPr>
          <a:xfrm>
            <a:off x="9326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Moving to regular, data-informed safety reviews using Safety Performance Indicators (SPIs) and targets (SPTs) aligned to Annex 19 — directing resources to the areas of greatest risk.</a:t>
            </a:r>
            <a:endParaRPr lang="en-US" sz="1250" dirty="0"/>
          </a:p>
        </p:txBody>
      </p:sp>
      <p:sp>
        <p:nvSpPr>
          <p:cNvPr id="9" name="Shape 7"/>
          <p:cNvSpPr/>
          <p:nvPr/>
        </p:nvSpPr>
        <p:spPr>
          <a:xfrm>
            <a:off x="4373880" y="1874520"/>
            <a:ext cx="3413760" cy="4480560"/>
          </a:xfrm>
          <a:prstGeom prst="roundRect">
            <a:avLst>
              <a:gd name="adj" fmla="val 2143"/>
            </a:avLst>
          </a:prstGeom>
          <a:solidFill>
            <a:srgbClr val="F4F6F8"/>
          </a:solidFill>
          <a:ln w="12700">
            <a:solidFill>
              <a:srgbClr val="E2E8EE"/>
            </a:solidFill>
            <a:prstDash val="solid"/>
          </a:ln>
        </p:spPr>
      </p:sp>
      <p:sp>
        <p:nvSpPr>
          <p:cNvPr id="10" name="Shape 8"/>
          <p:cNvSpPr/>
          <p:nvPr/>
        </p:nvSpPr>
        <p:spPr>
          <a:xfrm>
            <a:off x="4629912" y="2130552"/>
            <a:ext cx="548640" cy="548640"/>
          </a:xfrm>
          <a:prstGeom prst="ellipse">
            <a:avLst/>
          </a:prstGeom>
          <a:solidFill>
            <a:srgbClr val="3A4EA1"/>
          </a:solidFill>
          <a:ln/>
        </p:spPr>
      </p:sp>
      <p:sp>
        <p:nvSpPr>
          <p:cNvPr id="11" name="Text 9"/>
          <p:cNvSpPr/>
          <p:nvPr/>
        </p:nvSpPr>
        <p:spPr>
          <a:xfrm>
            <a:off x="46299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3340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Civil–military integration</a:t>
            </a:r>
            <a:endParaRPr lang="en-US" sz="1550" dirty="0"/>
          </a:p>
        </p:txBody>
      </p:sp>
      <p:sp>
        <p:nvSpPr>
          <p:cNvPr id="13" name="Text 11"/>
          <p:cNvSpPr/>
          <p:nvPr/>
        </p:nvSpPr>
        <p:spPr>
          <a:xfrm>
            <a:off x="46664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In an archipelagic airspace with significant military activity, national civil-military coordination and data-sharing protocols add real safety value, per Action Items 60/8(b) and 60/16.</a:t>
            </a:r>
            <a:endParaRPr lang="en-US" sz="1250" dirty="0"/>
          </a:p>
        </p:txBody>
      </p:sp>
      <p:sp>
        <p:nvSpPr>
          <p:cNvPr id="14" name="Shape 12"/>
          <p:cNvSpPr/>
          <p:nvPr/>
        </p:nvSpPr>
        <p:spPr>
          <a:xfrm>
            <a:off x="8107680" y="1874520"/>
            <a:ext cx="3413760" cy="4480560"/>
          </a:xfrm>
          <a:prstGeom prst="roundRect">
            <a:avLst>
              <a:gd name="adj" fmla="val 2143"/>
            </a:avLst>
          </a:prstGeom>
          <a:solidFill>
            <a:srgbClr val="F4F6F8"/>
          </a:solidFill>
          <a:ln w="12700">
            <a:solidFill>
              <a:srgbClr val="E2E8EE"/>
            </a:solidFill>
            <a:prstDash val="solid"/>
          </a:ln>
        </p:spPr>
      </p:sp>
      <p:sp>
        <p:nvSpPr>
          <p:cNvPr id="15" name="Shape 13"/>
          <p:cNvSpPr/>
          <p:nvPr/>
        </p:nvSpPr>
        <p:spPr>
          <a:xfrm>
            <a:off x="8363712" y="2130552"/>
            <a:ext cx="548640" cy="548640"/>
          </a:xfrm>
          <a:prstGeom prst="ellipse">
            <a:avLst/>
          </a:prstGeom>
          <a:solidFill>
            <a:srgbClr val="3A4EA1"/>
          </a:solidFill>
          <a:ln/>
        </p:spPr>
      </p:sp>
      <p:sp>
        <p:nvSpPr>
          <p:cNvPr id="16" name="Text 14"/>
          <p:cNvSpPr/>
          <p:nvPr/>
        </p:nvSpPr>
        <p:spPr>
          <a:xfrm>
            <a:off x="83637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67800" y="2130552"/>
            <a:ext cx="2225040" cy="64008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The same data discipline</a:t>
            </a:r>
            <a:endParaRPr lang="en-US" sz="1550" dirty="0"/>
          </a:p>
        </p:txBody>
      </p:sp>
      <p:sp>
        <p:nvSpPr>
          <p:cNvPr id="18" name="Text 16"/>
          <p:cNvSpPr/>
          <p:nvPr/>
        </p:nvSpPr>
        <p:spPr>
          <a:xfrm>
            <a:off x="84002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Predictive safety draws on the same governance, quality and sharing discipline as ATM performance analytics (60/21, 60/22) — safety and efficiency data are two views of one asset.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10058400" cy="365760"/>
          </a:xfrm>
          <a:prstGeom prst="rect">
            <a:avLst/>
          </a:prstGeom>
          <a:noFill/>
          <a:ln/>
        </p:spPr>
        <p:txBody>
          <a:bodyPr wrap="square" rtlCol="0" anchor="ctr"/>
          <a:lstStyle/>
          <a:p>
            <a:pPr indent="0" marL="0">
              <a:buNone/>
            </a:pPr>
            <a:r>
              <a:rPr lang="en-US" sz="1200" b="1" spc="200" kern="0" dirty="0">
                <a:solidFill>
                  <a:srgbClr val="F4B740"/>
                </a:solidFill>
                <a:latin typeface="Calibri" pitchFamily="34" charset="0"/>
                <a:ea typeface="Calibri" pitchFamily="34" charset="-122"/>
                <a:cs typeface="Calibri" pitchFamily="34" charset="-120"/>
              </a:rPr>
              <a:t>ACTION BY THE CONFERENCE</a:t>
            </a:r>
            <a:endParaRPr lang="en-US" sz="1200" dirty="0"/>
          </a:p>
        </p:txBody>
      </p:sp>
      <p:sp>
        <p:nvSpPr>
          <p:cNvPr id="3" name="Text 1"/>
          <p:cNvSpPr/>
          <p:nvPr/>
        </p:nvSpPr>
        <p:spPr>
          <a:xfrm>
            <a:off x="640080" y="868680"/>
            <a:ext cx="1088136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Conference is invited to:</a:t>
            </a:r>
            <a:endParaRPr lang="en-US" sz="2600" dirty="0"/>
          </a:p>
        </p:txBody>
      </p:sp>
      <p:sp>
        <p:nvSpPr>
          <p:cNvPr id="4" name="Shape 2"/>
          <p:cNvSpPr/>
          <p:nvPr/>
        </p:nvSpPr>
        <p:spPr>
          <a:xfrm>
            <a:off x="640080" y="1828800"/>
            <a:ext cx="457200" cy="457200"/>
          </a:xfrm>
          <a:prstGeom prst="ellipse">
            <a:avLst/>
          </a:prstGeom>
          <a:solidFill>
            <a:srgbClr val="F4B740"/>
          </a:solidFill>
          <a:ln/>
        </p:spPr>
      </p:sp>
      <p:sp>
        <p:nvSpPr>
          <p:cNvPr id="5" name="Text 3"/>
          <p:cNvSpPr/>
          <p:nvPr/>
        </p:nvSpPr>
        <p:spPr>
          <a:xfrm>
            <a:off x="640080" y="1828800"/>
            <a:ext cx="457200" cy="45720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a</a:t>
            </a:r>
            <a:endParaRPr lang="en-US" sz="1500" dirty="0"/>
          </a:p>
        </p:txBody>
      </p:sp>
      <p:sp>
        <p:nvSpPr>
          <p:cNvPr id="6" name="Text 4"/>
          <p:cNvSpPr/>
          <p:nvPr/>
        </p:nvSpPr>
        <p:spPr>
          <a:xfrm>
            <a:off x="1280160" y="1746504"/>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note Indonesia’s progress advancing its SMS toward predictive safety management;</a:t>
            </a:r>
            <a:endParaRPr lang="en-US" sz="1400" dirty="0"/>
          </a:p>
        </p:txBody>
      </p:sp>
      <p:sp>
        <p:nvSpPr>
          <p:cNvPr id="7" name="Shape 5"/>
          <p:cNvSpPr/>
          <p:nvPr/>
        </p:nvSpPr>
        <p:spPr>
          <a:xfrm>
            <a:off x="640080" y="2660904"/>
            <a:ext cx="457200" cy="457200"/>
          </a:xfrm>
          <a:prstGeom prst="ellipse">
            <a:avLst/>
          </a:prstGeom>
          <a:solidFill>
            <a:srgbClr val="F4B740"/>
          </a:solidFill>
          <a:ln/>
        </p:spPr>
      </p:sp>
      <p:sp>
        <p:nvSpPr>
          <p:cNvPr id="8" name="Text 6"/>
          <p:cNvSpPr/>
          <p:nvPr/>
        </p:nvSpPr>
        <p:spPr>
          <a:xfrm>
            <a:off x="640080" y="2660904"/>
            <a:ext cx="457200" cy="45720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b</a:t>
            </a:r>
            <a:endParaRPr lang="en-US" sz="1500" dirty="0"/>
          </a:p>
        </p:txBody>
      </p:sp>
      <p:sp>
        <p:nvSpPr>
          <p:cNvPr id="9" name="Text 7"/>
          <p:cNvSpPr/>
          <p:nvPr/>
        </p:nvSpPr>
        <p:spPr>
          <a:xfrm>
            <a:off x="1280160" y="2578608"/>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States to build the safety-data foundation — common definitions, quality and governed integration;</a:t>
            </a:r>
            <a:endParaRPr lang="en-US" sz="1400" dirty="0"/>
          </a:p>
        </p:txBody>
      </p:sp>
      <p:sp>
        <p:nvSpPr>
          <p:cNvPr id="10" name="Shape 8"/>
          <p:cNvSpPr/>
          <p:nvPr/>
        </p:nvSpPr>
        <p:spPr>
          <a:xfrm>
            <a:off x="640080" y="3493008"/>
            <a:ext cx="457200" cy="457200"/>
          </a:xfrm>
          <a:prstGeom prst="ellipse">
            <a:avLst/>
          </a:prstGeom>
          <a:solidFill>
            <a:srgbClr val="F4B740"/>
          </a:solidFill>
          <a:ln/>
        </p:spPr>
      </p:sp>
      <p:sp>
        <p:nvSpPr>
          <p:cNvPr id="11" name="Text 9"/>
          <p:cNvSpPr/>
          <p:nvPr/>
        </p:nvSpPr>
        <p:spPr>
          <a:xfrm>
            <a:off x="640080" y="3493008"/>
            <a:ext cx="457200" cy="45720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c</a:t>
            </a:r>
            <a:endParaRPr lang="en-US" sz="1500" dirty="0"/>
          </a:p>
        </p:txBody>
      </p:sp>
      <p:sp>
        <p:nvSpPr>
          <p:cNvPr id="12" name="Text 10"/>
          <p:cNvSpPr/>
          <p:nvPr/>
        </p:nvSpPr>
        <p:spPr>
          <a:xfrm>
            <a:off x="1280160" y="3410712"/>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investment in Positive Safety Culture and just-culture reporting as the indispensable enabler of SMS;</a:t>
            </a:r>
            <a:endParaRPr lang="en-US" sz="1400" dirty="0"/>
          </a:p>
        </p:txBody>
      </p:sp>
      <p:sp>
        <p:nvSpPr>
          <p:cNvPr id="13" name="Shape 11"/>
          <p:cNvSpPr/>
          <p:nvPr/>
        </p:nvSpPr>
        <p:spPr>
          <a:xfrm>
            <a:off x="640080" y="4325112"/>
            <a:ext cx="457200" cy="457200"/>
          </a:xfrm>
          <a:prstGeom prst="ellipse">
            <a:avLst/>
          </a:prstGeom>
          <a:solidFill>
            <a:srgbClr val="F4B740"/>
          </a:solidFill>
          <a:ln/>
        </p:spPr>
      </p:sp>
      <p:sp>
        <p:nvSpPr>
          <p:cNvPr id="14" name="Text 12"/>
          <p:cNvSpPr/>
          <p:nvPr/>
        </p:nvSpPr>
        <p:spPr>
          <a:xfrm>
            <a:off x="640080" y="4325112"/>
            <a:ext cx="457200" cy="45720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d</a:t>
            </a:r>
            <a:endParaRPr lang="en-US" sz="1500" dirty="0"/>
          </a:p>
        </p:txBody>
      </p:sp>
      <p:sp>
        <p:nvSpPr>
          <p:cNvPr id="15" name="Text 13"/>
          <p:cNvSpPr/>
          <p:nvPr/>
        </p:nvSpPr>
        <p:spPr>
          <a:xfrm>
            <a:off x="1280160" y="4242816"/>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regular, data-informed safety performance reviews using SPIs/SPTs aligned to Annex 19; and</a:t>
            </a:r>
            <a:endParaRPr lang="en-US" sz="1400" dirty="0"/>
          </a:p>
        </p:txBody>
      </p:sp>
      <p:sp>
        <p:nvSpPr>
          <p:cNvPr id="16" name="Shape 14"/>
          <p:cNvSpPr/>
          <p:nvPr/>
        </p:nvSpPr>
        <p:spPr>
          <a:xfrm>
            <a:off x="640080" y="5157216"/>
            <a:ext cx="457200" cy="457200"/>
          </a:xfrm>
          <a:prstGeom prst="ellipse">
            <a:avLst/>
          </a:prstGeom>
          <a:solidFill>
            <a:srgbClr val="F4B740"/>
          </a:solidFill>
          <a:ln/>
        </p:spPr>
      </p:sp>
      <p:sp>
        <p:nvSpPr>
          <p:cNvPr id="17" name="Text 15"/>
          <p:cNvSpPr/>
          <p:nvPr/>
        </p:nvSpPr>
        <p:spPr>
          <a:xfrm>
            <a:off x="640080" y="5157216"/>
            <a:ext cx="457200" cy="45720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e</a:t>
            </a:r>
            <a:endParaRPr lang="en-US" sz="1500" dirty="0"/>
          </a:p>
        </p:txBody>
      </p:sp>
      <p:sp>
        <p:nvSpPr>
          <p:cNvPr id="18" name="Text 16"/>
          <p:cNvSpPr/>
          <p:nvPr/>
        </p:nvSpPr>
        <p:spPr>
          <a:xfrm>
            <a:off x="1280160" y="5074920"/>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urge participation in the Regional Data Sharing Initiative and national civil-military safety data-sharing mechanisms.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3291840"/>
            <a:ext cx="5669280" cy="5669280"/>
          </a:xfrm>
          <a:prstGeom prst="ellipse">
            <a:avLst/>
          </a:prstGeom>
          <a:solidFill>
            <a:srgbClr val="3A4EA1">
              <a:alpha val="45000"/>
            </a:srgbClr>
          </a:solidFill>
          <a:ln/>
        </p:spPr>
      </p:sp>
      <p:sp>
        <p:nvSpPr>
          <p:cNvPr id="3" name="Text 1"/>
          <p:cNvSpPr/>
          <p:nvPr/>
        </p:nvSpPr>
        <p:spPr>
          <a:xfrm>
            <a:off x="914400" y="2194560"/>
            <a:ext cx="10332720" cy="2194560"/>
          </a:xfrm>
          <a:prstGeom prst="rect">
            <a:avLst/>
          </a:prstGeom>
          <a:noFill/>
          <a:ln/>
        </p:spPr>
        <p:txBody>
          <a:bodyPr wrap="square" rtlCol="0" anchor="ctr"/>
          <a:lstStyle/>
          <a:p>
            <a:pPr indent="0" marL="0">
              <a:lnSpc>
                <a:spcPct val="110000"/>
              </a:lnSpc>
              <a:buNone/>
            </a:pPr>
            <a:r>
              <a:rPr lang="en-US" sz="2600" b="1" dirty="0">
                <a:solidFill>
                  <a:srgbClr val="FFFFFF"/>
                </a:solidFill>
                <a:latin typeface="Cambria" pitchFamily="34" charset="0"/>
                <a:ea typeface="Cambria" pitchFamily="34" charset="-122"/>
                <a:cs typeface="Cambria" pitchFamily="34" charset="-120"/>
              </a:rPr>
              <a:t>Predictive safety rests on three foundations: quality data, a culture that generates it, and regional sharing that multiplies its value.</a:t>
            </a:r>
            <a:endParaRPr lang="en-US" sz="2600" dirty="0"/>
          </a:p>
        </p:txBody>
      </p:sp>
      <p:sp>
        <p:nvSpPr>
          <p:cNvPr id="4" name="Shape 2"/>
          <p:cNvSpPr/>
          <p:nvPr/>
        </p:nvSpPr>
        <p:spPr>
          <a:xfrm>
            <a:off x="960120" y="4572000"/>
            <a:ext cx="2743200" cy="0"/>
          </a:xfrm>
          <a:prstGeom prst="line">
            <a:avLst/>
          </a:prstGeom>
          <a:noFill/>
          <a:ln w="31750">
            <a:solidFill>
              <a:srgbClr val="F4B740"/>
            </a:solidFill>
            <a:prstDash val="solid"/>
          </a:ln>
        </p:spPr>
      </p:sp>
      <p:sp>
        <p:nvSpPr>
          <p:cNvPr id="5" name="Text 3"/>
          <p:cNvSpPr/>
          <p:nvPr/>
        </p:nvSpPr>
        <p:spPr>
          <a:xfrm>
            <a:off x="914400" y="4754880"/>
            <a:ext cx="9144000" cy="548640"/>
          </a:xfrm>
          <a:prstGeom prst="rect">
            <a:avLst/>
          </a:prstGeom>
          <a:noFill/>
          <a:ln/>
        </p:spPr>
        <p:txBody>
          <a:bodyPr wrap="square"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Terima kasih  ·  Thank you</a:t>
            </a:r>
            <a:endParaRPr lang="en-US" sz="1800" dirty="0"/>
          </a:p>
        </p:txBody>
      </p:sp>
      <p:sp>
        <p:nvSpPr>
          <p:cNvPr id="6" name="Text 4"/>
          <p:cNvSpPr/>
          <p:nvPr/>
        </p:nvSpPr>
        <p:spPr>
          <a:xfrm>
            <a:off x="914400" y="5349240"/>
            <a:ext cx="100584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AirNav Indonesia  ·  61st APAC DGCA Conference, Kuala Lumpur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2026-07-22T02:56:32Z</dcterms:created>
  <dcterms:modified xsi:type="dcterms:W3CDTF">2026-07-22T02:56:32Z</dcterms:modified>
</cp:coreProperties>
</file>