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990011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005840"/>
            <a:ext cx="3474720" cy="3474720"/>
          </a:xfrm>
          <a:prstGeom prst="ellipse">
            <a:avLst/>
          </a:prstGeom>
          <a:solidFill>
            <a:srgbClr val="F2A81D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61st APAC DGCA CONFERENCE  ·  KUALA LUMPUR, MALAYSIA  · 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Item 4 — Air Navigation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424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Navigation Resilience Against GNSS RFI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mitigation and Minimum Operational Networks across an archipelagic sky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349240"/>
            <a:ext cx="2926080" cy="0"/>
          </a:xfrm>
          <a:prstGeom prst="line">
            <a:avLst/>
          </a:prstGeom>
          <a:noFill/>
          <a:ln w="31750">
            <a:solidFill>
              <a:srgbClr val="F2A8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532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Indonesia  ·  AirNav Indonesia (Perum LPPNPI)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Smart Skies — Emerging Technologies for Safe, Secure, Sustainable and Efficient Aviation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0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Responding to Action Items 60/23 and 60/18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400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GNSS Radio Frequency Interference — jamming (signal denial) and spoofing (position deception) — is one of the most significant emerging threats to civil aviation navigation. A single source can affect many aircraft across wide areas and cross FIR boundaries, making the threat inherently regional.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 60/23 urged States to implement detection and mitigation, share events and best practices, and ensure Minimum Operational Networks and multi-layered resilience. Indonesia manages the Jakarta and Makassar FIRs across a vast archipelagic and oceanic airspace, and has established procedures and coordination to preserve safe operations.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60920" y="1783080"/>
            <a:ext cx="4160520" cy="4023360"/>
          </a:xfrm>
          <a:prstGeom prst="roundRect">
            <a:avLst>
              <a:gd name="adj" fmla="val 2727"/>
            </a:avLst>
          </a:prstGeom>
          <a:solidFill>
            <a:srgbClr val="4A0E12"/>
          </a:solidFill>
          <a:ln/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3524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 60/23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35240" y="2514600"/>
            <a:ext cx="3611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"… implement GNSS RFI detection and mitigation systems … formulate and implement strategies ensuring Minimum Operational Networks (MONs) and invest in multi-layered navigational resilience." — APAC DGCA60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IN DEPTH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0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 of resilience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80660" cy="2080260"/>
          </a:xfrm>
          <a:prstGeom prst="roundRect">
            <a:avLst>
              <a:gd name="adj" fmla="val 3516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130552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30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130552"/>
            <a:ext cx="40919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0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32688" y="2862072"/>
            <a:ext cx="4713732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 aligned to ICAO, applied across all ATS units. Controllers recognise position/surveillance discrepancies; pilots report cockpit anomalies; every event is documented. Low-cost, immediately deployable, highly transferable.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0780" y="1874520"/>
            <a:ext cx="5280660" cy="2080260"/>
          </a:xfrm>
          <a:prstGeom prst="roundRect">
            <a:avLst>
              <a:gd name="adj" fmla="val 3516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6812" y="2130552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/>
          <p:nvPr/>
        </p:nvSpPr>
        <p:spPr>
          <a:xfrm>
            <a:off x="6496812" y="2130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00900" y="2130552"/>
            <a:ext cx="40919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0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Operational Network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33388" y="2862072"/>
            <a:ext cx="4713732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GNSS is never a single point of failure. On detection, controllers apply radar vectoring and transition to conventional aids — VOR, DME, ILS. A rationalised MON is a deliberate resilience investment, not a legacy cost.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74820"/>
            <a:ext cx="5280660" cy="2080260"/>
          </a:xfrm>
          <a:prstGeom prst="roundRect">
            <a:avLst>
              <a:gd name="adj" fmla="val 3516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530852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5308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530852"/>
            <a:ext cx="40919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0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Spectrum coordination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32688" y="5262372"/>
            <a:ext cx="4713732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 is also a spectrum problem. AirNav coordinates with the national regulator through the Balmon spectrum monitoring centre for geolocation, tracking and enforcement against interference sources.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0780" y="4274820"/>
            <a:ext cx="5280660" cy="2080260"/>
          </a:xfrm>
          <a:prstGeom prst="roundRect">
            <a:avLst>
              <a:gd name="adj" fmla="val 3516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6812" y="4530852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1" name="Text 19"/>
          <p:cNvSpPr/>
          <p:nvPr/>
        </p:nvSpPr>
        <p:spPr>
          <a:xfrm>
            <a:off x="6496812" y="45308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00900" y="4530852"/>
            <a:ext cx="40919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0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sharing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33388" y="5262372"/>
            <a:ext cx="4713732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interference crosses borders, no State acts alone. Indonesia supports the APAC GNSS/Datalink Disruption Ad Hoc Group, timely event sharing and harmonised reporting so regional data is comparable and actionable.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BY THE CONFERENCE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Conference is invited to: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F2A81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0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746504"/>
            <a:ext cx="10241280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Indonesia’s experience detecting and mitigating GNSS RFI and maintaining multi-layered resilience across its FIRs;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60904"/>
            <a:ext cx="457200" cy="457200"/>
          </a:xfrm>
          <a:prstGeom prst="ellipse">
            <a:avLst/>
          </a:prstGeom>
          <a:solidFill>
            <a:srgbClr val="F2A81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0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578608"/>
            <a:ext cx="10241280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layered detection — controller training, independent surveillance and structured pilot/ATC reporting;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493008"/>
            <a:ext cx="457200" cy="457200"/>
          </a:xfrm>
          <a:prstGeom prst="ellipse">
            <a:avLst/>
          </a:prstGeom>
          <a:solidFill>
            <a:srgbClr val="F2A81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0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410712"/>
            <a:ext cx="10241280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retaining a rationalised MON of conventional aids (VOR/DME/ILS) and collaborating on coverage toward a regional MON;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325112"/>
            <a:ext cx="457200" cy="457200"/>
          </a:xfrm>
          <a:prstGeom prst="ellipse">
            <a:avLst/>
          </a:prstGeom>
          <a:solidFill>
            <a:srgbClr val="F2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25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0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242816"/>
            <a:ext cx="10241280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a formal ANSP–spectrum-authority coordination mechanism for geolocation and enforcement; and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157216"/>
            <a:ext cx="457200" cy="457200"/>
          </a:xfrm>
          <a:prstGeom prst="ellipse">
            <a:avLst/>
          </a:prstGeom>
          <a:solidFill>
            <a:srgbClr val="F2A81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57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0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5074920"/>
            <a:ext cx="10241280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 active participation in the APAC GNSS/Datalink Disruption Ad Hoc Group with harmonised RFI event reporting.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91840"/>
            <a:ext cx="5669280" cy="5669280"/>
          </a:xfrm>
          <a:prstGeom prst="ellipse">
            <a:avLst/>
          </a:prstGeom>
          <a:solidFill>
            <a:srgbClr val="990011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9456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Resilience is built by layering — trained detection, a maintained MON, a bridge to spectrum authorities, and regional sharing. Indonesia has implemented all four.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60120" y="4572000"/>
            <a:ext cx="2743200" cy="0"/>
          </a:xfrm>
          <a:prstGeom prst="line">
            <a:avLst/>
          </a:prstGeom>
          <a:noFill/>
          <a:ln w="31750">
            <a:solidFill>
              <a:srgbClr val="F2A8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754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 ·  Thank you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349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AirNav Indonesia  ·  61st APAC DGCA Conference, Kuala Lumpur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2026-07-22T02:56:32Z</dcterms:created>
  <dcterms:modified xsi:type="dcterms:W3CDTF">2026-07-22T02:56:32Z</dcterms:modified>
</cp:coreProperties>
</file>